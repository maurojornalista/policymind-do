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a0b632cf234a8b" /><Relationship Type="http://schemas.openxmlformats.org/officeDocument/2006/relationships/extended-properties" Target="/docProps/app.xml" Id="R1a33ac5e46eb4ee9" /><Relationship Type="http://schemas.openxmlformats.org/officeDocument/2006/relationships/officeDocument" Target="/ppt/presentation.xml" Id="Rcda696530a37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5d26acdfc4ea3"/>
  </p:sldMasterIdLst>
  <p:notesMasterIdLst>
    <p:notesMasterId xmlns:r="http://schemas.openxmlformats.org/officeDocument/2006/relationships" r:id="R3e746c4958724682"/>
  </p:notesMasterIdLst>
  <p:sldIdLst>
    <p:sldId xmlns:r="http://schemas.openxmlformats.org/officeDocument/2006/relationships" id="256" r:id="R749fe8c74e2745bf"/>
    <p:sldId xmlns:r="http://schemas.openxmlformats.org/officeDocument/2006/relationships" id="257" r:id="R7414c40c6e2f4905"/>
    <p:sldId xmlns:r="http://schemas.openxmlformats.org/officeDocument/2006/relationships" id="258" r:id="R2cf0fef37b13482a"/>
    <p:sldId xmlns:r="http://schemas.openxmlformats.org/officeDocument/2006/relationships" id="259" r:id="Rfeee7fc2d0224890"/>
    <p:sldId xmlns:r="http://schemas.openxmlformats.org/officeDocument/2006/relationships" id="260" r:id="R11d1ac6a7ea543c1"/>
    <p:sldId xmlns:r="http://schemas.openxmlformats.org/officeDocument/2006/relationships" id="261" r:id="Ra7cf2baccd1b4e00"/>
    <p:sldId xmlns:r="http://schemas.openxmlformats.org/officeDocument/2006/relationships" id="262" r:id="R089feab4d7d84886"/>
    <p:sldId xmlns:r="http://schemas.openxmlformats.org/officeDocument/2006/relationships" id="263" r:id="R479d6661785d4848"/>
    <p:sldId xmlns:r="http://schemas.openxmlformats.org/officeDocument/2006/relationships" id="264" r:id="Rea15e06471d6401b"/>
    <p:sldId xmlns:r="http://schemas.openxmlformats.org/officeDocument/2006/relationships" id="265" r:id="Rdec85088aba147c8"/>
    <p:sldId xmlns:r="http://schemas.openxmlformats.org/officeDocument/2006/relationships" id="266" r:id="R8408a19406cc4b87"/>
    <p:sldId xmlns:r="http://schemas.openxmlformats.org/officeDocument/2006/relationships" id="267" r:id="Rd10a000b0deb420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b85cb400a14cbb" /><Relationship Type="http://schemas.openxmlformats.org/officeDocument/2006/relationships/slideMaster" Target="/ppt/slideMasters/slideMaster1.xml" Id="Re4b5d26acdfc4ea3" /><Relationship Type="http://schemas.openxmlformats.org/officeDocument/2006/relationships/notesMaster" Target="/ppt/notesMasters/notesMaster1.xml" Id="R3e746c4958724682" /><Relationship Type="http://schemas.openxmlformats.org/officeDocument/2006/relationships/presProps" Target="/ppt/presProps.xml" Id="R289c6fd323534dab" /><Relationship Type="http://schemas.openxmlformats.org/officeDocument/2006/relationships/viewProps" Target="/ppt/viewProps.xml" Id="R42c343e9a9714589" /><Relationship Type="http://schemas.openxmlformats.org/officeDocument/2006/relationships/tableStyles" Target="/ppt/tableStyles.xml" Id="Rd9c59122e8df43b1" /><Relationship Type="http://schemas.openxmlformats.org/officeDocument/2006/relationships/slide" Target="/ppt/slides/slide1.xml" Id="R749fe8c74e2745bf" /><Relationship Type="http://schemas.openxmlformats.org/officeDocument/2006/relationships/slide" Target="/ppt/slides/slide2.xml" Id="R7414c40c6e2f4905" /><Relationship Type="http://schemas.openxmlformats.org/officeDocument/2006/relationships/slide" Target="/ppt/slides/slide3.xml" Id="R2cf0fef37b13482a" /><Relationship Type="http://schemas.openxmlformats.org/officeDocument/2006/relationships/slide" Target="/ppt/slides/slide4.xml" Id="Rfeee7fc2d0224890" /><Relationship Type="http://schemas.openxmlformats.org/officeDocument/2006/relationships/slide" Target="/ppt/slides/slide5.xml" Id="R11d1ac6a7ea543c1" /><Relationship Type="http://schemas.openxmlformats.org/officeDocument/2006/relationships/slide" Target="/ppt/slides/slide6.xml" Id="Ra7cf2baccd1b4e00" /><Relationship Type="http://schemas.openxmlformats.org/officeDocument/2006/relationships/slide" Target="/ppt/slides/slide7.xml" Id="R089feab4d7d84886" /><Relationship Type="http://schemas.openxmlformats.org/officeDocument/2006/relationships/slide" Target="/ppt/slides/slide8.xml" Id="R479d6661785d4848" /><Relationship Type="http://schemas.openxmlformats.org/officeDocument/2006/relationships/slide" Target="/ppt/slides/slide9.xml" Id="Rea15e06471d6401b" /><Relationship Type="http://schemas.openxmlformats.org/officeDocument/2006/relationships/slide" Target="/ppt/slides/slide10.xml" Id="Rdec85088aba147c8" /><Relationship Type="http://schemas.openxmlformats.org/officeDocument/2006/relationships/slide" Target="/ppt/slides/slide11.xml" Id="R8408a19406cc4b87" /><Relationship Type="http://schemas.openxmlformats.org/officeDocument/2006/relationships/slide" Target="/ppt/slides/slide12.xml" Id="Rd10a000b0deb42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3c54c13d544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olicyMind">
  <a:themeElements>
    <a:clrScheme name="PolicyMind">
      <a:dk1>
        <a:srgbClr val="1B2333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E8A317"/>
      </a:accent2>
      <a:accent3>
        <a:srgbClr val="2A9D8F"/>
      </a:accent3>
      <a:accent4>
        <a:srgbClr val="C8553D"/>
      </a:accent4>
      <a:accent5>
        <a:srgbClr val="5C6B80"/>
      </a:accent5>
      <a:accent6>
        <a:srgbClr val="8EA3BF"/>
      </a:accent6>
      <a:hlink>
        <a:srgbClr val="2A9D8F"/>
      </a:hlink>
      <a:folHlink>
        <a:srgbClr val="5C6B80"/>
      </a:folHlink>
    </a:clrScheme>
    <a:fontScheme name="PolicyM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olicyMin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414e2f239c4490" /><Relationship Type="http://schemas.openxmlformats.org/officeDocument/2006/relationships/notesMaster" Target="/ppt/notesMasters/notesMaster1.xml" Id="R4b5f8283d7bc4f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5dc8733a944fa1" /><Relationship Type="http://schemas.openxmlformats.org/officeDocument/2006/relationships/notesMaster" Target="/ppt/notesMasters/notesMaster1.xml" Id="Rc10f3c569f0941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6a198a74934255" /><Relationship Type="http://schemas.openxmlformats.org/officeDocument/2006/relationships/notesMaster" Target="/ppt/notesMasters/notesMaster1.xml" Id="R0489b4ec159a4c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a643875b0f43a6" /><Relationship Type="http://schemas.openxmlformats.org/officeDocument/2006/relationships/notesMaster" Target="/ppt/notesMasters/notesMaster1.xml" Id="R52e29a0d9c4344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c3c03d31d546c5" /><Relationship Type="http://schemas.openxmlformats.org/officeDocument/2006/relationships/notesMaster" Target="/ppt/notesMasters/notesMaster1.xml" Id="Re242ee3a0a0049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bb7ef88cf442e0" /><Relationship Type="http://schemas.openxmlformats.org/officeDocument/2006/relationships/notesMaster" Target="/ppt/notesMasters/notesMaster1.xml" Id="Rcd82c73824cc44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7f10e228bb4c5f" /><Relationship Type="http://schemas.openxmlformats.org/officeDocument/2006/relationships/notesMaster" Target="/ppt/notesMasters/notesMaster1.xml" Id="Rf9b7d6286b684d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c9ea254cb3411d" /><Relationship Type="http://schemas.openxmlformats.org/officeDocument/2006/relationships/notesMaster" Target="/ppt/notesMasters/notesMaster1.xml" Id="R51e0d8c5a8cf49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662d0887fd479f" /><Relationship Type="http://schemas.openxmlformats.org/officeDocument/2006/relationships/notesMaster" Target="/ppt/notesMasters/notesMaster1.xml" Id="Rd49025b8c39743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e710d9bb6645b9" /><Relationship Type="http://schemas.openxmlformats.org/officeDocument/2006/relationships/notesMaster" Target="/ppt/notesMasters/notesMaster1.xml" Id="Re3211567cb454a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6b26452aa04632" /><Relationship Type="http://schemas.openxmlformats.org/officeDocument/2006/relationships/notesMaster" Target="/ppt/notesMasters/notesMaster1.xml" Id="R8c12db1d40b54c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62772ecd9e4091" /><Relationship Type="http://schemas.openxmlformats.org/officeDocument/2006/relationships/notesMaster" Target="/ppt/notesMasters/notesMaster1.xml" Id="R03c870b7dd7c4e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Abertura: apresentar o grupo e o PolicyMind D&amp;O, uma plataforma que lê, estrutura e compara apólices D&amp;O usando IA generativa.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problema: apólices D&amp;O são longas e cada seguradora usa termos próprios. Comparar uma renovação com a apólice anterior consome horas de um especialista e está sujeito a erros.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solução: o usuário envia duas apólices; a IA extrai os dados com evidência; o sistema compara de forma determinística; e a IA escreve a síntese. O princípio central é nunca inventar dados.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Cinco agentes especializados, cada um com uma responsabilidade, coordenados por um orquestrador. A IA generativa entra onde agrega valor: entender documentos diferentes e escrever a análise. Leitura, normalização e comparação são determinísticas, para serem exatas e testáveis. Não usamos LangChain nem CrewAI: o fluxo é explícito e fácil de explicar.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diferencial do projeto é a honestidade da IA: evidência obrigatória com página e trecho, campos ausentes ficam nulos, a comparação não inventa diferenças, e a interface nunca apresenta resultado sem IA como se fosse IA.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caso real, a ferramenta mostra objetivamente a queda de 48,8% no prêmio. Também identifica o que só aparece na AXA. E, com o mesmo rigor, avisa que não dá para concluir sobre coberturas, porque o documento da Tokio Marine está incompleto.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real da execução final com IA ativa, modelo OpenAI / gpt-4o-mini. Nenhum alerta de contingência ou informação de provedor foi substituído dentro da captura.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da síntese executiva fornecida por Mauro: captura_sintese_openai.PNG. Execução final com OpenAI / gpt-4o-mini. O enquadramento destaca a análise, sem modificar o conteúdo da imagem. A redução de preço não comprova melhora de cobertura.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gráfico preserva apenas os tempos históricos da validação anterior com Groq / gpt-oss-120b: DocumentAgent 0,8 s, extração 8,5 s e síntese 15,3 s. Eles não representam a entrega final OpenAI / gpt-4o-mini, nem uma garantia de desempenho. Nenhum tempo da execução final foi inventado. Os resultados de testes previamente validados são 32 aprovados e 1 OCR ignorado por ausência de Tesseract.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Aprendizados históricos da validação anterior com Groq / gpt-oss-120b. A entrega final utiliza OpenAI / gpt-4o-mini. O limite de 8.000 tokens por minuto registrado na tabela se refere exclusivamente ao provedor e ao plano usados nessa validação anterior. As correções técnicas e conclusões validadas permanecem.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Limitações conhecidas e próximos passos. A principal evolução seria ligar cada apólice às suas Condições Gerais via RAG e permitir perguntas em linguagem natural com citação da página.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Encerramento: agradecer, reforçar que o código está no GitHub com README e relatório técnico, e lembrar que é um projeto acadêmico.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25e0469aa41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74d4e508f842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285e8ccbca4bd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048A90-C4C6-439C-8FC1-BBFA8F748A20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1417320"/>
            <a:ext cx="8046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40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Título</a:t>
            </a:r>
            <a:endParaRPr sz="40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1E74DBD2-731F-4FF8-95AF-3E93F964D3C8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548640" y="2743200"/>
            <a:ext cx="8046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8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1800">
                <a:solidFill>
                  <a:schemeClr val="accent6"/>
                </a:solidFill>
              </a:rPr>
              <a:t>Subtítulo</a:t>
            </a:r>
            <a:endParaRPr sz="18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5C9BE8-C731-475B-B014-31F0CA91B474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600" b="1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Título</a:t>
            </a:r>
            <a:endParaRPr sz="26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0EE43DE-19B3-4CBE-BED1-3605B2C5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chemeClr val="accent5"/>
                </a:solidFill>
              </a:rPr>
              <a:t>PolicyMind D&amp;O · InsurMinds/I2A2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1B91458-D5D6-466B-817D-DB66390F8152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432354a8224942" /><Relationship Type="http://schemas.openxmlformats.org/officeDocument/2006/relationships/slideLayout" Target="/ppt/slideLayouts/slideLayout1.xml" Id="R80445f8d221a461d" /><Relationship Type="http://schemas.openxmlformats.org/officeDocument/2006/relationships/slideLayout" Target="/ppt/slideLayouts/slideLayout2.xml" Id="Re7ec34ac51a043b8" /><Relationship Type="http://schemas.openxmlformats.org/officeDocument/2006/relationships/slideLayout" Target="/ppt/slideLayouts/slideLayout3.xml" Id="R9fcd3857f24b4c6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F7BC8A6-BEF4-4D64-8EC9-8834F8CE1A2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45f8d221a461d"/>
    <p:sldLayoutId xmlns:r="http://schemas.openxmlformats.org/officeDocument/2006/relationships" id="2147483650" r:id="Re7ec34ac51a043b8"/>
    <p:sldLayoutId xmlns:r="http://schemas.openxmlformats.org/officeDocument/2006/relationships" id="2147483651" r:id="R9fcd3857f24b4c6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PolicyMind">
  <a:themeElements>
    <a:clrScheme name="PolicyMind">
      <a:dk1>
        <a:srgbClr val="1B2333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E8A317"/>
      </a:accent2>
      <a:accent3>
        <a:srgbClr val="2A9D8F"/>
      </a:accent3>
      <a:accent4>
        <a:srgbClr val="C8553D"/>
      </a:accent4>
      <a:accent5>
        <a:srgbClr val="5C6B80"/>
      </a:accent5>
      <a:accent6>
        <a:srgbClr val="8EA3BF"/>
      </a:accent6>
      <a:hlink>
        <a:srgbClr val="2A9D8F"/>
      </a:hlink>
      <a:folHlink>
        <a:srgbClr val="5C6B80"/>
      </a:folHlink>
    </a:clrScheme>
    <a:fontScheme name="PolicyM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olicyMin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b6a81ceec4f83" /><Relationship Type="http://schemas.openxmlformats.org/officeDocument/2006/relationships/notesSlide" Target="/ppt/notesSlides/notesSlide1.xml" Id="R3ec9544b632144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e71c456e64498e" /><Relationship Type="http://schemas.openxmlformats.org/officeDocument/2006/relationships/image" Target="/ppt/media/image.png" Id="R3bfb30f0504b4dee" /><Relationship Type="http://schemas.openxmlformats.org/officeDocument/2006/relationships/image" Target="/ppt/media/image2.png" Id="R12bd37505bbb4fd9" /><Relationship Type="http://schemas.openxmlformats.org/officeDocument/2006/relationships/image" Target="/ppt/media/image3.png" Id="Re00017f527dd4539" /><Relationship Type="http://schemas.openxmlformats.org/officeDocument/2006/relationships/notesSlide" Target="/ppt/notesSlides/notesSlide2.xml" Id="R9167b22c059a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8f61758c56d4788" /><Relationship Type="http://schemas.openxmlformats.org/officeDocument/2006/relationships/image" Target="/ppt/media/image4.png" Id="R34a69ccf7c0e401b" /><Relationship Type="http://schemas.openxmlformats.org/officeDocument/2006/relationships/image" Target="/ppt/media/image5.png" Id="Rb516648c145c426a" /><Relationship Type="http://schemas.openxmlformats.org/officeDocument/2006/relationships/image" Target="/ppt/media/image6.png" Id="Rbdf539a082d148da" /><Relationship Type="http://schemas.openxmlformats.org/officeDocument/2006/relationships/image" Target="/ppt/media/image7.png" Id="Rb734bb7b42c84796" /><Relationship Type="http://schemas.openxmlformats.org/officeDocument/2006/relationships/notesSlide" Target="/ppt/notesSlides/notesSlide3.xml" Id="R0ab01c1c2f3140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ac45335aaf4168" /><Relationship Type="http://schemas.openxmlformats.org/officeDocument/2006/relationships/notesSlide" Target="/ppt/notesSlides/notesSlide4.xml" Id="R4d3b598cda0441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e97ae24856c45fe" /><Relationship Type="http://schemas.openxmlformats.org/officeDocument/2006/relationships/image" Target="/ppt/media/image8.png" Id="Ra84ce7a48cda45c3" /><Relationship Type="http://schemas.openxmlformats.org/officeDocument/2006/relationships/image" Target="/ppt/media/image9.png" Id="Rbc9bd8a1f0b14b4d" /><Relationship Type="http://schemas.openxmlformats.org/officeDocument/2006/relationships/image" Target="/ppt/media/image10.png" Id="Rc3ac64ff17184386" /><Relationship Type="http://schemas.openxmlformats.org/officeDocument/2006/relationships/image" Target="/ppt/media/image11.png" Id="R0a39779d27df44d6" /><Relationship Type="http://schemas.openxmlformats.org/officeDocument/2006/relationships/image" Target="/ppt/media/image12.png" Id="Rfd800b13ec8740cc" /><Relationship Type="http://schemas.openxmlformats.org/officeDocument/2006/relationships/image" Target="/ppt/media/image13.png" Id="Re2f26754794343e1" /><Relationship Type="http://schemas.openxmlformats.org/officeDocument/2006/relationships/notesSlide" Target="/ppt/notesSlides/notesSlide5.xml" Id="Re9d33488422f48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b700ec8af54abf" /><Relationship Type="http://schemas.openxmlformats.org/officeDocument/2006/relationships/notesSlide" Target="/ppt/notesSlides/notesSlide6.xml" Id="Rc65ae2b0c2d342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f76d66e3ea4ebc" /><Relationship Type="http://schemas.openxmlformats.org/officeDocument/2006/relationships/image" Target="/ppt/media/image14.png" Id="R640b75fc0b024640" /><Relationship Type="http://schemas.openxmlformats.org/officeDocument/2006/relationships/notesSlide" Target="/ppt/notesSlides/notesSlide7.xml" Id="R02b706db930b46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5d774b36140490d" /><Relationship Type="http://schemas.openxmlformats.org/officeDocument/2006/relationships/image" Target="/ppt/media/image15.png" Id="R24b3349badc14f5c" /><Relationship Type="http://schemas.openxmlformats.org/officeDocument/2006/relationships/notesSlide" Target="/ppt/notesSlides/notesSlide8.xml" Id="R266d75e5477646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1e20aad92844e0" /><Relationship Type="http://schemas.openxmlformats.org/officeDocument/2006/relationships/chart" Target="/ppt/slides/charts/chart1.xml" Id="R0cf4db3f3b6d424a" /><Relationship Type="http://schemas.openxmlformats.org/officeDocument/2006/relationships/notesSlide" Target="/ppt/notesSlides/notesSlide9.xml" Id="Rcbfd586881f14a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00e6f336874a90" /><Relationship Type="http://schemas.openxmlformats.org/officeDocument/2006/relationships/notesSlide" Target="/ppt/notesSlides/notesSlide10.xml" Id="R531838c9eebe4b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1020deb83349c0" /><Relationship Type="http://schemas.openxmlformats.org/officeDocument/2006/relationships/notesSlide" Target="/ppt/notesSlides/notesSlide11.xml" Id="R9a2aae24df7946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88f20b6b1a4fc1" /><Relationship Type="http://schemas.openxmlformats.org/officeDocument/2006/relationships/notesSlide" Target="/ppt/notesSlides/notesSlide12.xml" Id="R92ff2a40ad294669" /></Relationships>
</file>

<file path=ppt/slides/charts/_rels/chart1.xml.rels><?xml version='1.0' encoding='utf-8'?>
<ns0:Relationships xmlns:ns0="http://schemas.openxmlformats.org/package/2006/relationships"><ns0:Relationship Id="rId1" Type="http://schemas.openxmlformats.org/officeDocument/2006/relationships/package" Target="../../embeddings/Microsoft_Excel_Worksheet1.xlsx" /></ns0:Relationships>
</file>

<file path=ppt/slides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+mn-lt"/>
              </a:rPr>
              <a:t>Tempo por agente (segundos)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3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DocumentAgent</c:v>
                </c:pt>
                <c:pt idx="1">
                  <c:v>PolicyExtraction (IA)</c:v>
                </c:pt>
                <c:pt idx="2">
                  <c:v>Normalization</c:v>
                </c:pt>
                <c:pt idx="3">
                  <c:v>Comparison</c:v>
                </c:pt>
                <c:pt idx="4">
                  <c:v>Analysis (IA)*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8.5</c:v>
                </c:pt>
                <c:pt idx="2">
                  <c:v>0</c:v>
                </c:pt>
                <c:pt idx="3">
                  <c:v>0</c:v>
                </c:pt>
                <c:pt idx="4">
                  <c:v>15.3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3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3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B16CFB7-E5C1-4B34-8F6C-00B4989D183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1417320"/>
            <a:ext cx="8046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PolicyMind D&amp;O</a:t>
            </a:r>
            <a:endParaRPr sz="40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2AA47352-467D-4F7A-82D6-21142BC0B0F6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548640" y="2743200"/>
            <a:ext cx="8046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875"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Inteligência aplicada à comparação de apólices</a:t>
            </a:r>
            <a:endParaRPr sz="1800"/>
          </a:p>
          <a:p xmlns:a="http://schemas.openxmlformats.org/drawingml/2006/main">
            <a:pPr marL="0" indent="0" algn="l">
              <a:buNone/>
              <a:defRPr sz="1875"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Arquitetura multiagente com IA generativa</a:t>
            </a:r>
            <a:endParaRPr sz="1800"/>
          </a:p>
        </p:txBody>
      </p:sp>
      <p:sp>
        <p:nvSpPr>
          <p:cNvPr id="4" name="kicker">
            <a:extLst xmlns:a="http://schemas.openxmlformats.org/drawingml/2006/main">
              <a:ext uri="{FF2B5EF4-FFF2-40B4-BE49-F238E27FC236}">
                <a16:creationId xmlns:a16="http://schemas.microsoft.com/office/drawing/2014/main" id="{C81BAB67-A189-4E40-A8BD-1EF30097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02920"/>
            <a:ext cx="8046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E8A317"/>
                </a:solidFill>
                <a:latin typeface="Calibri"/>
                <a:ea typeface="Calibri"/>
                <a:cs typeface="Calibri"/>
              </a:rPr>
              <a:t>Insight Builders · Projeto Final InsurMinds / I2A2</a:t>
            </a:r>
            <a:endParaRPr sz="1300"/>
          </a:p>
        </p:txBody>
      </p:sp>
      <p:sp>
        <p:nvSpPr>
          <p:cNvPr id="5" name="team">
            <a:extLst xmlns:a="http://schemas.openxmlformats.org/drawingml/2006/main">
              <a:ext uri="{FF2B5EF4-FFF2-40B4-BE49-F238E27FC236}">
                <a16:creationId xmlns:a16="http://schemas.microsoft.com/office/drawing/2014/main" id="{D1F21EBC-D23C-4DE0-850C-CF93D3F4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67150"/>
            <a:ext cx="804672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Márcio de la Cruz Lui</a:t>
            </a:r>
            <a:endParaRPr sz="1200"/>
          </a:p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Mauro José de Oliveira</a:t>
            </a:r>
            <a:endParaRPr sz="1200"/>
          </a:p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Pedro Antonio Franceschini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72959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AA7E67-E88C-4A3B-8FCE-A54EC3EE0281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Comparar apólices D&amp;O ainda é manual e lento</a:t>
            </a:r>
            <a:endParaRPr sz="2600"/>
          </a:p>
        </p:txBody>
      </p:sp>
      <p:sp>
        <p:nvSpPr>
          <p:cNvPr id="3" name="prob-card-0">
            <a:extLst xmlns:a="http://schemas.openxmlformats.org/drawingml/2006/main">
              <a:ext uri="{FF2B5EF4-FFF2-40B4-BE49-F238E27FC236}">
                <a16:creationId xmlns:a16="http://schemas.microsoft.com/office/drawing/2014/main" id="{E9DBF66B-35CD-4A60-AF9A-86FBE3B3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2606040" cy="310896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4" name="prob-0-circle">
            <a:extLst xmlns:a="http://schemas.openxmlformats.org/drawingml/2006/main">
              <a:ext uri="{FF2B5EF4-FFF2-40B4-BE49-F238E27FC236}">
                <a16:creationId xmlns:a16="http://schemas.microsoft.com/office/drawing/2014/main" id="{24D51A33-DFC5-4DEA-97CC-D1D4F5E7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</p:sp>
      <p:pic>
        <p:nvPicPr>
          <p:cNvPr id="32" name="prob-0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b30f0504b4d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970" y="163449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6" name="prob-h-0">
            <a:extLst xmlns:a="http://schemas.openxmlformats.org/drawingml/2006/main">
              <a:ext uri="{FF2B5EF4-FFF2-40B4-BE49-F238E27FC236}">
                <a16:creationId xmlns:a16="http://schemas.microsoft.com/office/drawing/2014/main" id="{857AB219-D2E8-413F-92CA-19FBDBD6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tx2"/>
                </a:solidFill>
                <a:latin typeface="Cambria"/>
                <a:ea typeface="Cambria"/>
                <a:cs typeface="Cambria"/>
              </a:rPr>
              <a:t>52 a 104 páginas</a:t>
            </a:r>
            <a:endParaRPr sz="1900"/>
          </a:p>
        </p:txBody>
      </p:sp>
      <p:sp>
        <p:nvSpPr>
          <p:cNvPr id="7" name="prob-t-0">
            <a:extLst xmlns:a="http://schemas.openxmlformats.org/drawingml/2006/main">
              <a:ext uri="{FF2B5EF4-FFF2-40B4-BE49-F238E27FC236}">
                <a16:creationId xmlns:a16="http://schemas.microsoft.com/office/drawing/2014/main" id="{34C1B7CE-0F52-417C-95C1-A6CA002B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21031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Condições Gerais longas, em linguagem jurídica, com estrutura diferente em cada seguradora</a:t>
            </a:r>
            <a:endParaRPr sz="1400"/>
          </a:p>
        </p:txBody>
      </p:sp>
      <p:sp>
        <p:nvSpPr>
          <p:cNvPr id="8" name="prob-card-1">
            <a:extLst xmlns:a="http://schemas.openxmlformats.org/drawingml/2006/main">
              <a:ext uri="{FF2B5EF4-FFF2-40B4-BE49-F238E27FC236}">
                <a16:creationId xmlns:a16="http://schemas.microsoft.com/office/drawing/2014/main" id="{F38B097A-6BC4-4120-BB40-BB70269D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234440"/>
            <a:ext cx="2606040" cy="310896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9" name="prob-1-circle">
            <a:extLst xmlns:a="http://schemas.openxmlformats.org/drawingml/2006/main">
              <a:ext uri="{FF2B5EF4-FFF2-40B4-BE49-F238E27FC236}">
                <a16:creationId xmlns:a16="http://schemas.microsoft.com/office/drawing/2014/main" id="{67659CF7-7615-42C5-953F-47785893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463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</p:sp>
      <p:pic>
        <p:nvPicPr>
          <p:cNvPr id="37" name="prob-1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d37505bbb4f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91890" y="163449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1" name="prob-h-1">
            <a:extLst xmlns:a="http://schemas.openxmlformats.org/drawingml/2006/main">
              <a:ext uri="{FF2B5EF4-FFF2-40B4-BE49-F238E27FC236}">
                <a16:creationId xmlns:a16="http://schemas.microsoft.com/office/drawing/2014/main" id="{4348EDA2-DEE2-43F3-9034-13E7D05B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3317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tx2"/>
                </a:solidFill>
                <a:latin typeface="Cambria"/>
                <a:ea typeface="Cambria"/>
                <a:cs typeface="Cambria"/>
              </a:rPr>
              <a:t>Termos diferentes</a:t>
            </a:r>
            <a:endParaRPr sz="1900"/>
          </a:p>
        </p:txBody>
      </p:sp>
      <p:sp>
        <p:nvSpPr>
          <p:cNvPr id="12" name="prob-t-1">
            <a:extLst xmlns:a="http://schemas.openxmlformats.org/drawingml/2006/main">
              <a:ext uri="{FF2B5EF4-FFF2-40B4-BE49-F238E27FC236}">
                <a16:creationId xmlns:a16="http://schemas.microsoft.com/office/drawing/2014/main" id="{BB9646FC-26A8-4995-9F87-F1802EAC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834640"/>
            <a:ext cx="21031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"Penhora on-line" numa, "bloqueio de conta" na outra: o mesmo conceito com nomes distintos</a:t>
            </a:r>
            <a:endParaRPr sz="1400"/>
          </a:p>
        </p:txBody>
      </p:sp>
      <p:sp>
        <p:nvSpPr>
          <p:cNvPr id="13" name="prob-card-2">
            <a:extLst xmlns:a="http://schemas.openxmlformats.org/drawingml/2006/main">
              <a:ext uri="{FF2B5EF4-FFF2-40B4-BE49-F238E27FC236}">
                <a16:creationId xmlns:a16="http://schemas.microsoft.com/office/drawing/2014/main" id="{D19D068E-FCE9-4679-B0E7-5A1628EB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234440"/>
            <a:ext cx="2606040" cy="310896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14" name="prob-2-circle">
            <a:extLst xmlns:a="http://schemas.openxmlformats.org/drawingml/2006/main">
              <a:ext uri="{FF2B5EF4-FFF2-40B4-BE49-F238E27FC236}">
                <a16:creationId xmlns:a16="http://schemas.microsoft.com/office/drawing/2014/main" id="{C4AABFE8-0BCB-416D-BE0F-EBB8B394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</p:sp>
      <p:pic>
        <p:nvPicPr>
          <p:cNvPr id="42" name="prob-2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017f527dd45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0810" y="163449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6" name="prob-h-2">
            <a:extLst xmlns:a="http://schemas.openxmlformats.org/drawingml/2006/main">
              <a:ext uri="{FF2B5EF4-FFF2-40B4-BE49-F238E27FC236}">
                <a16:creationId xmlns:a16="http://schemas.microsoft.com/office/drawing/2014/main" id="{5328CBEB-F3F9-45EA-82B7-A90D672B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1720"/>
            <a:ext cx="2103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tx2"/>
                </a:solidFill>
                <a:latin typeface="Cambria"/>
                <a:ea typeface="Cambria"/>
                <a:cs typeface="Cambria"/>
              </a:rPr>
              <a:t>Horas de análise</a:t>
            </a:r>
            <a:endParaRPr sz="1900"/>
          </a:p>
        </p:txBody>
      </p:sp>
      <p:sp>
        <p:nvSpPr>
          <p:cNvPr id="17" name="prob-t-2">
            <a:extLst xmlns:a="http://schemas.openxmlformats.org/drawingml/2006/main">
              <a:ext uri="{FF2B5EF4-FFF2-40B4-BE49-F238E27FC236}">
                <a16:creationId xmlns:a16="http://schemas.microsoft.com/office/drawing/2014/main" id="{8744A76E-A4D2-41E1-9703-40D2CF6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834640"/>
            <a:ext cx="21031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tx1"/>
                </a:solidFill>
              </a:rPr>
              <a:t>Alinhar prêmios, limites, franquias, coberturas e exclusões exige leitura cruzada linha a linha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88DBA41-EA1E-4CAD-ADFB-34B7FE35143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6277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039A04C-E9E6-4B69-9DC9-C715B1B2581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Do PDF à análise executiva</a:t>
            </a:r>
            <a:endParaRPr sz="2600"/>
          </a:p>
        </p:txBody>
      </p:sp>
      <p:sp>
        <p:nvSpPr>
          <p:cNvPr id="3" name="step-0-circle">
            <a:extLst xmlns:a="http://schemas.openxmlformats.org/drawingml/2006/main">
              <a:ext uri="{FF2B5EF4-FFF2-40B4-BE49-F238E27FC236}">
                <a16:creationId xmlns:a16="http://schemas.microsoft.com/office/drawing/2014/main" id="{73018727-36EC-4865-B658-CBF3AACE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3258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pic>
        <p:nvPicPr>
          <p:cNvPr id="32" name="step-0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69ccf7c0e40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1580" y="15316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6734E646-A9C8-4A39-B991-5BBD1C35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73736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6" name="step-h-0">
            <a:extLst xmlns:a="http://schemas.openxmlformats.org/drawingml/2006/main">
              <a:ext uri="{FF2B5EF4-FFF2-40B4-BE49-F238E27FC236}">
                <a16:creationId xmlns:a16="http://schemas.microsoft.com/office/drawing/2014/main" id="{89741401-94C7-4CED-85B7-758BAEE2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chemeClr val="tx2"/>
                </a:solidFill>
                <a:latin typeface="Cambria"/>
                <a:ea typeface="Cambria"/>
                <a:cs typeface="Cambria"/>
              </a:rPr>
              <a:t>1. Envia</a:t>
            </a:r>
            <a:endParaRPr sz="2000"/>
          </a:p>
        </p:txBody>
      </p:sp>
      <p:sp>
        <p:nvSpPr>
          <p:cNvPr id="7" name="step-t-0">
            <a:extLst xmlns:a="http://schemas.openxmlformats.org/drawingml/2006/main">
              <a:ext uri="{FF2B5EF4-FFF2-40B4-BE49-F238E27FC236}">
                <a16:creationId xmlns:a16="http://schemas.microsoft.com/office/drawing/2014/main" id="{8D7B1882-1AA3-40FF-BA55-3AAD5E9A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chemeClr val="tx1"/>
                </a:solidFill>
              </a:rPr>
              <a:t>Duas apólices em PDF ou imagem</a:t>
            </a:r>
            <a:endParaRPr sz="1400"/>
          </a:p>
        </p:txBody>
      </p:sp>
      <p:sp>
        <p:nvSpPr>
          <p:cNvPr id="8" name="step-1-circle">
            <a:extLst xmlns:a="http://schemas.openxmlformats.org/drawingml/2006/main">
              <a:ext uri="{FF2B5EF4-FFF2-40B4-BE49-F238E27FC236}">
                <a16:creationId xmlns:a16="http://schemas.microsoft.com/office/drawing/2014/main" id="{1AF0983A-676C-4CE4-9141-CEF7CF4B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3258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pic>
        <p:nvPicPr>
          <p:cNvPr id="37" name="step-1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6648c145c42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14700" y="15316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E70A3ADC-FB7C-4E47-A7DD-09811B68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73736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1" name="step-h-1">
            <a:extLst xmlns:a="http://schemas.openxmlformats.org/drawingml/2006/main">
              <a:ext uri="{FF2B5EF4-FFF2-40B4-BE49-F238E27FC236}">
                <a16:creationId xmlns:a16="http://schemas.microsoft.com/office/drawing/2014/main" id="{819C93A0-C28C-432D-AB5A-FAE3DBBA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33172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chemeClr val="tx2"/>
                </a:solidFill>
                <a:latin typeface="Cambria"/>
                <a:ea typeface="Cambria"/>
                <a:cs typeface="Cambria"/>
              </a:rPr>
              <a:t>2. Extrai</a:t>
            </a:r>
            <a:endParaRPr sz="2000"/>
          </a:p>
        </p:txBody>
      </p:sp>
      <p:sp>
        <p:nvSpPr>
          <p:cNvPr id="12" name="step-t-1">
            <a:extLst xmlns:a="http://schemas.openxmlformats.org/drawingml/2006/main">
              <a:ext uri="{FF2B5EF4-FFF2-40B4-BE49-F238E27FC236}">
                <a16:creationId xmlns:a16="http://schemas.microsoft.com/office/drawing/2014/main" id="{5D315448-D08D-4F77-ACDA-F51DCB65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74320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chemeClr val="tx1"/>
                </a:solidFill>
              </a:rPr>
              <a:t>IA gera um JSON padronizado, com página e trecho de cada dado</a:t>
            </a:r>
            <a:endParaRPr sz="1400"/>
          </a:p>
        </p:txBody>
      </p:sp>
      <p:sp>
        <p:nvSpPr>
          <p:cNvPr id="13" name="step-2-circle">
            <a:extLst xmlns:a="http://schemas.openxmlformats.org/drawingml/2006/main">
              <a:ext uri="{FF2B5EF4-FFF2-40B4-BE49-F238E27FC236}">
                <a16:creationId xmlns:a16="http://schemas.microsoft.com/office/drawing/2014/main" id="{837A5F6A-970C-4F1B-A215-2AF2A75F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3258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pic>
        <p:nvPicPr>
          <p:cNvPr id="42" name="step-2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539a082d148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17820" y="15316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5" name="arrow-2">
            <a:extLst xmlns:a="http://schemas.openxmlformats.org/drawingml/2006/main">
              <a:ext uri="{FF2B5EF4-FFF2-40B4-BE49-F238E27FC236}">
                <a16:creationId xmlns:a16="http://schemas.microsoft.com/office/drawing/2014/main" id="{A45975D5-D75E-4CC4-9BAC-34102190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37360"/>
            <a:ext cx="10972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6" name="step-h-2">
            <a:extLst xmlns:a="http://schemas.openxmlformats.org/drawingml/2006/main">
              <a:ext uri="{FF2B5EF4-FFF2-40B4-BE49-F238E27FC236}">
                <a16:creationId xmlns:a16="http://schemas.microsoft.com/office/drawing/2014/main" id="{4F5B14E9-5E00-40AC-A6FC-9A23EFCB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3172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chemeClr val="tx2"/>
                </a:solidFill>
                <a:latin typeface="Cambria"/>
                <a:ea typeface="Cambria"/>
                <a:cs typeface="Cambria"/>
              </a:rPr>
              <a:t>3. Compara</a:t>
            </a:r>
            <a:endParaRPr sz="2000"/>
          </a:p>
        </p:txBody>
      </p:sp>
      <p:sp>
        <p:nvSpPr>
          <p:cNvPr id="17" name="step-t-2">
            <a:extLst xmlns:a="http://schemas.openxmlformats.org/drawingml/2006/main">
              <a:ext uri="{FF2B5EF4-FFF2-40B4-BE49-F238E27FC236}">
                <a16:creationId xmlns:a16="http://schemas.microsoft.com/office/drawing/2014/main" id="{8E1E33ED-D63B-4807-982B-F5B12951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320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chemeClr val="tx1"/>
                </a:solidFill>
              </a:rPr>
              <a:t>Campo a campo e item a item, de forma determinística</a:t>
            </a:r>
            <a:endParaRPr sz="1400"/>
          </a:p>
        </p:txBody>
      </p:sp>
      <p:sp>
        <p:nvSpPr>
          <p:cNvPr id="18" name="step-3-circle">
            <a:extLst xmlns:a="http://schemas.openxmlformats.org/drawingml/2006/main">
              <a:ext uri="{FF2B5EF4-FFF2-40B4-BE49-F238E27FC236}">
                <a16:creationId xmlns:a16="http://schemas.microsoft.com/office/drawing/2014/main" id="{6848CEF6-5A5F-45EE-829E-4BAC3E9D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25880"/>
            <a:ext cx="822960" cy="822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pic>
        <p:nvPicPr>
          <p:cNvPr id="47" name="step-3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4bb7b42c847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0940" y="15316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step-h-3">
            <a:extLst xmlns:a="http://schemas.openxmlformats.org/drawingml/2006/main">
              <a:ext uri="{FF2B5EF4-FFF2-40B4-BE49-F238E27FC236}">
                <a16:creationId xmlns:a16="http://schemas.microsoft.com/office/drawing/2014/main" id="{DEA5E665-7F38-4E5C-A92C-28E21120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chemeClr val="tx2"/>
                </a:solidFill>
                <a:latin typeface="Cambria"/>
                <a:ea typeface="Cambria"/>
                <a:cs typeface="Cambria"/>
              </a:rPr>
              <a:t>4. Explica</a:t>
            </a:r>
            <a:endParaRPr sz="2000"/>
          </a:p>
        </p:txBody>
      </p:sp>
      <p:sp>
        <p:nvSpPr>
          <p:cNvPr id="21" name="step-t-3">
            <a:extLst xmlns:a="http://schemas.openxmlformats.org/drawingml/2006/main">
              <a:ext uri="{FF2B5EF4-FFF2-40B4-BE49-F238E27FC236}">
                <a16:creationId xmlns:a16="http://schemas.microsoft.com/office/drawing/2014/main" id="{CEFB3A01-77FC-4884-AFFD-3C926C40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43200"/>
            <a:ext cx="1920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chemeClr val="tx1"/>
                </a:solidFill>
              </a:rPr>
              <a:t>Síntese com ganhos, perdas e pontos de atenção</a:t>
            </a:r>
            <a:endParaRPr sz="1400"/>
          </a:p>
        </p:txBody>
      </p:sp>
      <p:sp>
        <p:nvSpPr>
          <p:cNvPr id="22" name="promise">
            <a:extLst xmlns:a="http://schemas.openxmlformats.org/drawingml/2006/main">
              <a:ext uri="{FF2B5EF4-FFF2-40B4-BE49-F238E27FC236}">
                <a16:creationId xmlns:a16="http://schemas.microsoft.com/office/drawing/2014/main" id="{3495CB93-6404-4713-8BC6-2229F220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822960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23" name="promise-text">
            <a:extLst xmlns:a="http://schemas.openxmlformats.org/drawingml/2006/main">
              <a:ext uri="{FF2B5EF4-FFF2-40B4-BE49-F238E27FC236}">
                <a16:creationId xmlns:a16="http://schemas.microsoft.com/office/drawing/2014/main" id="{95AF8C33-FBD4-470B-B246-D7D74A58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77724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C8553D"/>
                </a:solidFill>
              </a:rPr>
              <a:t>Princípio: </a:t>
            </a:r>
            <a:r>
              <a:rPr sz="1500">
                <a:solidFill>
                  <a:schemeClr val="tx1"/>
                </a:solidFill>
              </a:rPr>
              <a:t>na dúvida, o sistema declara a ausência do dado em vez de concluir. Nada é inventado.</a:t>
            </a:r>
            <a:endParaRPr sz="15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EA655F2-111C-4389-9342-9467AC9EDA9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11625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78B93D0-6272-4049-84A7-C6F9F707C10E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Arquitetura multiagente com orquestrador</a:t>
            </a:r>
            <a:endParaRPr sz="2600"/>
          </a:p>
        </p:txBody>
      </p:sp>
      <p:sp>
        <p:nvSpPr>
          <p:cNvPr id="3" name="orch">
            <a:extLst xmlns:a="http://schemas.openxmlformats.org/drawingml/2006/main">
              <a:ext uri="{FF2B5EF4-FFF2-40B4-BE49-F238E27FC236}">
                <a16:creationId xmlns:a16="http://schemas.microsoft.com/office/drawing/2014/main" id="{F73DB0A4-7D87-44C9-B104-EA5A532E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8229600" cy="54864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4" name="orch-text">
            <a:extLst xmlns:a="http://schemas.openxmlformats.org/drawingml/2006/main">
              <a:ext uri="{FF2B5EF4-FFF2-40B4-BE49-F238E27FC236}">
                <a16:creationId xmlns:a16="http://schemas.microsoft.com/office/drawing/2014/main" id="{CDB81101-BA08-4849-9797-2DE7BDA3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78638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E8A317"/>
                </a:solidFill>
              </a:rPr>
              <a:t>OrchestratorAgent</a:t>
            </a:r>
            <a:r>
              <a:rPr sz="1300">
                <a:solidFill>
                  <a:srgbClr val="FFFFFF"/>
                </a:solidFill>
              </a:rPr>
              <a:t>  ·  sequência, status de cada etapa, cache SQLite e tratamento de erros sem derrubar a aplicação</a:t>
            </a:r>
            <a:endParaRPr sz="1300"/>
          </a:p>
        </p:txBody>
      </p:sp>
      <p:sp>
        <p:nvSpPr>
          <p:cNvPr id="5" name="agent-0">
            <a:extLst xmlns:a="http://schemas.openxmlformats.org/drawingml/2006/main">
              <a:ext uri="{FF2B5EF4-FFF2-40B4-BE49-F238E27FC236}">
                <a16:creationId xmlns:a16="http://schemas.microsoft.com/office/drawing/2014/main" id="{F683B7BE-DC50-4138-AB0D-BE37D09C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1499616" cy="150876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6" name="agent-n-0">
            <a:extLst xmlns:a="http://schemas.openxmlformats.org/drawingml/2006/main">
              <a:ext uri="{FF2B5EF4-FFF2-40B4-BE49-F238E27FC236}">
                <a16:creationId xmlns:a16="http://schemas.microsoft.com/office/drawing/2014/main" id="{F35FFD49-A653-4210-8103-7723D58A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8A317"/>
                </a:solidFill>
                <a:latin typeface="Cambria"/>
                <a:ea typeface="Cambria"/>
                <a:cs typeface="Cambria"/>
              </a:rPr>
              <a:t>1</a:t>
            </a:r>
            <a:endParaRPr sz="1800"/>
          </a:p>
        </p:txBody>
      </p:sp>
      <p:sp>
        <p:nvSpPr>
          <p:cNvPr id="7" name="agent-h-0">
            <a:extLst xmlns:a="http://schemas.openxmlformats.org/drawingml/2006/main">
              <a:ext uri="{FF2B5EF4-FFF2-40B4-BE49-F238E27FC236}">
                <a16:creationId xmlns:a16="http://schemas.microsoft.com/office/drawing/2014/main" id="{CC6DD25C-7C54-4B02-94D7-0C076FB9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460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213D"/>
                </a:solidFill>
              </a:rPr>
              <a:t>DocumentAgent</a:t>
            </a:r>
            <a:endParaRPr sz="1300"/>
          </a:p>
        </p:txBody>
      </p:sp>
      <p:sp>
        <p:nvSpPr>
          <p:cNvPr id="8" name="agent-d-0">
            <a:extLst xmlns:a="http://schemas.openxmlformats.org/drawingml/2006/main">
              <a:ext uri="{FF2B5EF4-FFF2-40B4-BE49-F238E27FC236}">
                <a16:creationId xmlns:a16="http://schemas.microsoft.com/office/drawing/2014/main" id="{A211544E-2799-4629-8C23-66A4A003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26080"/>
            <a:ext cx="1280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B2333"/>
                </a:solidFill>
              </a:rPr>
              <a:t>PyMuPDF; OCR só como fallback</a:t>
            </a:r>
            <a:endParaRPr sz="1100"/>
          </a:p>
        </p:txBody>
      </p:sp>
      <p:sp>
        <p:nvSpPr>
          <p:cNvPr id="9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0E00910D-23DA-4985-8372-E0DBC9E1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6816" y="280720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0" name="agent-1">
            <a:extLst xmlns:a="http://schemas.openxmlformats.org/drawingml/2006/main">
              <a:ext uri="{FF2B5EF4-FFF2-40B4-BE49-F238E27FC236}">
                <a16:creationId xmlns:a16="http://schemas.microsoft.com/office/drawing/2014/main" id="{6247FBD1-B54B-4D9C-B406-224BB18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2057400"/>
            <a:ext cx="1499616" cy="150876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sp>
        <p:nvSpPr>
          <p:cNvPr id="11" name="agent-n-1">
            <a:extLst xmlns:a="http://schemas.openxmlformats.org/drawingml/2006/main">
              <a:ext uri="{FF2B5EF4-FFF2-40B4-BE49-F238E27FC236}">
                <a16:creationId xmlns:a16="http://schemas.microsoft.com/office/drawing/2014/main" id="{15A58D29-F1B8-4DFD-996D-635640A3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800"/>
          </a:p>
        </p:txBody>
      </p:sp>
      <p:sp>
        <p:nvSpPr>
          <p:cNvPr id="12" name="agent-h-1">
            <a:extLst xmlns:a="http://schemas.openxmlformats.org/drawingml/2006/main">
              <a:ext uri="{FF2B5EF4-FFF2-40B4-BE49-F238E27FC236}">
                <a16:creationId xmlns:a16="http://schemas.microsoft.com/office/drawing/2014/main" id="{426D9A06-5FD8-4533-B178-5F5614C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251460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PolicyExtraction</a:t>
            </a:r>
            <a:endParaRPr sz="1300"/>
          </a:p>
        </p:txBody>
      </p:sp>
      <p:sp>
        <p:nvSpPr>
          <p:cNvPr id="13" name="agent-d-1">
            <a:extLst xmlns:a="http://schemas.openxmlformats.org/drawingml/2006/main">
              <a:ext uri="{FF2B5EF4-FFF2-40B4-BE49-F238E27FC236}">
                <a16:creationId xmlns:a16="http://schemas.microsoft.com/office/drawing/2014/main" id="{CC59DBCC-8E1F-4B8E-8620-33ED6226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2926080"/>
            <a:ext cx="1280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LLM → JSON com evidências</a:t>
            </a:r>
            <a:endParaRPr sz="1100"/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86EAE4A0-4223-49E3-A417-F76FDB45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0720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15" name="agent-2">
            <a:extLst xmlns:a="http://schemas.openxmlformats.org/drawingml/2006/main">
              <a:ext uri="{FF2B5EF4-FFF2-40B4-BE49-F238E27FC236}">
                <a16:creationId xmlns:a16="http://schemas.microsoft.com/office/drawing/2014/main" id="{892DE090-D7BC-4B30-BBF3-1D2B1222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057400"/>
            <a:ext cx="1499616" cy="150876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16" name="agent-n-2">
            <a:extLst xmlns:a="http://schemas.openxmlformats.org/drawingml/2006/main">
              <a:ext uri="{FF2B5EF4-FFF2-40B4-BE49-F238E27FC236}">
                <a16:creationId xmlns:a16="http://schemas.microsoft.com/office/drawing/2014/main" id="{9DEAB991-7817-4774-A03B-EC94DF0A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8A317"/>
                </a:solidFill>
                <a:latin typeface="Cambria"/>
                <a:ea typeface="Cambria"/>
                <a:cs typeface="Cambria"/>
              </a:rPr>
              <a:t>3</a:t>
            </a:r>
            <a:endParaRPr sz="1800"/>
          </a:p>
        </p:txBody>
      </p:sp>
      <p:sp>
        <p:nvSpPr>
          <p:cNvPr id="17" name="agent-h-2">
            <a:extLst xmlns:a="http://schemas.openxmlformats.org/drawingml/2006/main">
              <a:ext uri="{FF2B5EF4-FFF2-40B4-BE49-F238E27FC236}">
                <a16:creationId xmlns:a16="http://schemas.microsoft.com/office/drawing/2014/main" id="{0CB444EF-536B-4AD0-A50A-E45839B8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1460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213D"/>
                </a:solidFill>
              </a:rPr>
              <a:t>Normalization</a:t>
            </a:r>
            <a:endParaRPr sz="1300"/>
          </a:p>
        </p:txBody>
      </p:sp>
      <p:sp>
        <p:nvSpPr>
          <p:cNvPr id="18" name="agent-d-2">
            <a:extLst xmlns:a="http://schemas.openxmlformats.org/drawingml/2006/main">
              <a:ext uri="{FF2B5EF4-FFF2-40B4-BE49-F238E27FC236}">
                <a16:creationId xmlns:a16="http://schemas.microsoft.com/office/drawing/2014/main" id="{9F34F45C-82A3-42A3-A3A9-AE57DCFC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26080"/>
            <a:ext cx="1280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B2333"/>
                </a:solidFill>
              </a:rPr>
              <a:t>Sinônimos, R$, datas</a:t>
            </a:r>
            <a:endParaRPr sz="1100"/>
          </a:p>
        </p:txBody>
      </p:sp>
      <p:sp>
        <p:nvSpPr>
          <p:cNvPr id="19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5FBC406A-9B02-4B7E-9976-D6142520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280720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20" name="agent-3">
            <a:extLst xmlns:a="http://schemas.openxmlformats.org/drawingml/2006/main">
              <a:ext uri="{FF2B5EF4-FFF2-40B4-BE49-F238E27FC236}">
                <a16:creationId xmlns:a16="http://schemas.microsoft.com/office/drawing/2014/main" id="{9FD18593-A6CA-4574-9042-A4B1684B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2057400"/>
            <a:ext cx="1499616" cy="150876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21" name="agent-n-3">
            <a:extLst xmlns:a="http://schemas.openxmlformats.org/drawingml/2006/main">
              <a:ext uri="{FF2B5EF4-FFF2-40B4-BE49-F238E27FC236}">
                <a16:creationId xmlns:a16="http://schemas.microsoft.com/office/drawing/2014/main" id="{7391E375-EAF3-40F8-8A31-912D4011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E8A317"/>
                </a:solidFill>
                <a:latin typeface="Cambria"/>
                <a:ea typeface="Cambria"/>
                <a:cs typeface="Cambria"/>
              </a:rPr>
              <a:t>4</a:t>
            </a:r>
            <a:endParaRPr sz="1800"/>
          </a:p>
        </p:txBody>
      </p:sp>
      <p:sp>
        <p:nvSpPr>
          <p:cNvPr id="22" name="agent-h-3">
            <a:extLst xmlns:a="http://schemas.openxmlformats.org/drawingml/2006/main">
              <a:ext uri="{FF2B5EF4-FFF2-40B4-BE49-F238E27FC236}">
                <a16:creationId xmlns:a16="http://schemas.microsoft.com/office/drawing/2014/main" id="{EACF1AB5-D5EA-4F67-A432-39E0E0C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51460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213D"/>
                </a:solidFill>
              </a:rPr>
              <a:t>Comparison</a:t>
            </a:r>
            <a:endParaRPr sz="1300"/>
          </a:p>
        </p:txBody>
      </p:sp>
      <p:sp>
        <p:nvSpPr>
          <p:cNvPr id="23" name="agent-d-3">
            <a:extLst xmlns:a="http://schemas.openxmlformats.org/drawingml/2006/main">
              <a:ext uri="{FF2B5EF4-FFF2-40B4-BE49-F238E27FC236}">
                <a16:creationId xmlns:a16="http://schemas.microsoft.com/office/drawing/2014/main" id="{BDB79987-3378-49B3-8C61-D49144A8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926080"/>
            <a:ext cx="1280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B2333"/>
                </a:solidFill>
              </a:rPr>
              <a:t>Diferenças determinísticas</a:t>
            </a:r>
            <a:endParaRPr sz="1100"/>
          </a:p>
        </p:txBody>
      </p:sp>
      <p:sp>
        <p:nvSpPr>
          <p:cNvPr id="24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FEA127B1-6CA5-46DD-B2FE-EA9E987B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2807208"/>
            <a:ext cx="182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875">
            <a:solidFill>
              <a:srgbClr val="5C6B80"/>
            </a:solidFill>
            <a:prstDash val="solid"/>
            <a:tailEnd type="triangle"/>
          </a:ln>
        </p:spPr>
      </p:sp>
      <p:sp>
        <p:nvSpPr>
          <p:cNvPr id="25" name="agent-4">
            <a:extLst xmlns:a="http://schemas.openxmlformats.org/drawingml/2006/main">
              <a:ext uri="{FF2B5EF4-FFF2-40B4-BE49-F238E27FC236}">
                <a16:creationId xmlns:a16="http://schemas.microsoft.com/office/drawing/2014/main" id="{97A1A4A7-C585-4E02-9EE3-F6D1DE7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2057400"/>
            <a:ext cx="1499616" cy="150876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sp>
        <p:nvSpPr>
          <p:cNvPr id="26" name="agent-n-4">
            <a:extLst xmlns:a="http://schemas.openxmlformats.org/drawingml/2006/main">
              <a:ext uri="{FF2B5EF4-FFF2-40B4-BE49-F238E27FC236}">
                <a16:creationId xmlns:a16="http://schemas.microsoft.com/office/drawing/2014/main" id="{A51BC1A6-DD8D-440A-8A9B-E74D4DDC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214884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1800"/>
          </a:p>
        </p:txBody>
      </p:sp>
      <p:sp>
        <p:nvSpPr>
          <p:cNvPr id="27" name="agent-h-4">
            <a:extLst xmlns:a="http://schemas.openxmlformats.org/drawingml/2006/main">
              <a:ext uri="{FF2B5EF4-FFF2-40B4-BE49-F238E27FC236}">
                <a16:creationId xmlns:a16="http://schemas.microsoft.com/office/drawing/2014/main" id="{89220B9F-C351-419F-84AF-67C0EC2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251460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</a:rPr>
              <a:t>Analysis</a:t>
            </a:r>
            <a:endParaRPr sz="1300"/>
          </a:p>
        </p:txBody>
      </p:sp>
      <p:sp>
        <p:nvSpPr>
          <p:cNvPr id="28" name="agent-d-4">
            <a:extLst xmlns:a="http://schemas.openxmlformats.org/drawingml/2006/main">
              <a:ext uri="{FF2B5EF4-FFF2-40B4-BE49-F238E27FC236}">
                <a16:creationId xmlns:a16="http://schemas.microsoft.com/office/drawing/2014/main" id="{EF778F05-E38A-4191-BA1C-3AB0C33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912" y="2926080"/>
            <a:ext cx="1280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</a:rPr>
              <a:t>LLM → síntese executiva</a:t>
            </a:r>
            <a:endParaRPr sz="1100"/>
          </a:p>
        </p:txBody>
      </p:sp>
      <p:sp>
        <p:nvSpPr>
          <p:cNvPr id="29" name="legend-ia">
            <a:extLst xmlns:a="http://schemas.openxmlformats.org/drawingml/2006/main">
              <a:ext uri="{FF2B5EF4-FFF2-40B4-BE49-F238E27FC236}">
                <a16:creationId xmlns:a16="http://schemas.microsoft.com/office/drawing/2014/main" id="{FBFD7C5F-83F3-4CBA-8E9A-7923A342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sp>
        <p:nvSpPr>
          <p:cNvPr id="30" name="legend-ia-t">
            <a:extLst xmlns:a="http://schemas.openxmlformats.org/drawingml/2006/main">
              <a:ext uri="{FF2B5EF4-FFF2-40B4-BE49-F238E27FC236}">
                <a16:creationId xmlns:a16="http://schemas.microsoft.com/office/drawing/2014/main" id="{BCEA5732-69DA-4F1D-BD7F-4D00DBD4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7772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1"/>
                </a:solidFill>
              </a:rPr>
              <a:t>IA generativa na entrega final: OpenAI / gpt-4o-mini</a:t>
            </a:r>
            <a:endParaRPr sz="1200"/>
          </a:p>
        </p:txBody>
      </p:sp>
      <p:sp>
        <p:nvSpPr>
          <p:cNvPr id="31" name="legend-det">
            <a:extLst xmlns:a="http://schemas.openxmlformats.org/drawingml/2006/main">
              <a:ext uri="{FF2B5EF4-FFF2-40B4-BE49-F238E27FC236}">
                <a16:creationId xmlns:a16="http://schemas.microsoft.com/office/drawing/2014/main" id="{C3F0E803-870A-4DED-BCE4-B106C258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768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 w="6350">
            <a:solidFill>
              <a:srgbClr val="5C6B80"/>
            </a:solidFill>
            <a:prstDash val="solid"/>
          </a:ln>
        </p:spPr>
      </p:sp>
      <p:sp>
        <p:nvSpPr>
          <p:cNvPr id="32" name="legend-det-t">
            <a:extLst xmlns:a="http://schemas.openxmlformats.org/drawingml/2006/main">
              <a:ext uri="{FF2B5EF4-FFF2-40B4-BE49-F238E27FC236}">
                <a16:creationId xmlns:a16="http://schemas.microsoft.com/office/drawing/2014/main" id="{684BA2C9-C191-4A69-B270-A8A375F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24528"/>
            <a:ext cx="7772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1"/>
                </a:solidFill>
              </a:rPr>
              <a:t>Determinístico: rápido, reproduzível e coberto por testes</a:t>
            </a:r>
            <a:endParaRPr sz="1200"/>
          </a:p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AEC16138-D7D5-4B3A-BC18-5882A1DC972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45646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A660C1-D357-43A3-8BE4-101C5F9BFCF8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IA generativa com guardrails contra alucinação</a:t>
            </a:r>
            <a:endParaRPr sz="2600"/>
          </a:p>
        </p:txBody>
      </p:sp>
      <p:sp>
        <p:nvSpPr>
          <p:cNvPr id="3" name="guard-card-0">
            <a:extLst xmlns:a="http://schemas.openxmlformats.org/drawingml/2006/main">
              <a:ext uri="{FF2B5EF4-FFF2-40B4-BE49-F238E27FC236}">
                <a16:creationId xmlns:a16="http://schemas.microsoft.com/office/drawing/2014/main" id="{E699B8B0-5632-4E65-ADCB-0F5BC114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023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4" name="guard-0-circle">
            <a:extLst xmlns:a="http://schemas.openxmlformats.org/drawingml/2006/main">
              <a:ext uri="{FF2B5EF4-FFF2-40B4-BE49-F238E27FC236}">
                <a16:creationId xmlns:a16="http://schemas.microsoft.com/office/drawing/2014/main" id="{0958190D-4B6E-4CAA-895E-F385E603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3898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pic>
        <p:nvPicPr>
          <p:cNvPr id="42" name="guard-0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4ce7a48cda45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668" y="154076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6" name="guard-h-0">
            <a:extLst xmlns:a="http://schemas.openxmlformats.org/drawingml/2006/main">
              <a:ext uri="{FF2B5EF4-FFF2-40B4-BE49-F238E27FC236}">
                <a16:creationId xmlns:a16="http://schemas.microsoft.com/office/drawing/2014/main" id="{C58F5AC9-D887-40E8-8B50-FCA73E9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28016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Evidência obrigatória</a:t>
            </a:r>
            <a:endParaRPr sz="1400"/>
          </a:p>
        </p:txBody>
      </p:sp>
      <p:sp>
        <p:nvSpPr>
          <p:cNvPr id="7" name="guard-t-0">
            <a:extLst xmlns:a="http://schemas.openxmlformats.org/drawingml/2006/main">
              <a:ext uri="{FF2B5EF4-FFF2-40B4-BE49-F238E27FC236}">
                <a16:creationId xmlns:a16="http://schemas.microsoft.com/office/drawing/2014/main" id="{F60D9849-A08A-40E7-859F-47249E93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020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Cada valor vem com página e trecho. Se o trecho não existe no PDF, o valor é descartado</a:t>
            </a:r>
            <a:endParaRPr sz="1100"/>
          </a:p>
        </p:txBody>
      </p:sp>
      <p:sp>
        <p:nvSpPr>
          <p:cNvPr id="8" name="guard-card-1">
            <a:extLst xmlns:a="http://schemas.openxmlformats.org/drawingml/2006/main">
              <a:ext uri="{FF2B5EF4-FFF2-40B4-BE49-F238E27FC236}">
                <a16:creationId xmlns:a16="http://schemas.microsoft.com/office/drawing/2014/main" id="{E7E00507-8B81-4FA9-B70B-3DD7060A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88720"/>
            <a:ext cx="4023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9" name="guard-1-circle">
            <a:extLst xmlns:a="http://schemas.openxmlformats.org/drawingml/2006/main">
              <a:ext uri="{FF2B5EF4-FFF2-40B4-BE49-F238E27FC236}">
                <a16:creationId xmlns:a16="http://schemas.microsoft.com/office/drawing/2014/main" id="{12837898-FFA8-46C4-84A1-4C0E46AF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898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pic>
        <p:nvPicPr>
          <p:cNvPr id="47" name="guard-1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bd8a1f0b14b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8908" y="154076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1" name="guard-h-1">
            <a:extLst xmlns:a="http://schemas.openxmlformats.org/drawingml/2006/main">
              <a:ext uri="{FF2B5EF4-FFF2-40B4-BE49-F238E27FC236}">
                <a16:creationId xmlns:a16="http://schemas.microsoft.com/office/drawing/2014/main" id="{1B44A95D-0876-434C-BF48-EEFC6F5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28016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Ausente = null</a:t>
            </a:r>
            <a:endParaRPr sz="1400"/>
          </a:p>
        </p:txBody>
      </p:sp>
      <p:sp>
        <p:nvSpPr>
          <p:cNvPr id="12" name="guard-t-1">
            <a:extLst xmlns:a="http://schemas.openxmlformats.org/drawingml/2006/main">
              <a:ext uri="{FF2B5EF4-FFF2-40B4-BE49-F238E27FC236}">
                <a16:creationId xmlns:a16="http://schemas.microsoft.com/office/drawing/2014/main" id="{44CDF65E-2367-41DD-A676-38FEC22C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60020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Campo não encontrado fica "não identificado", nunca estimado</a:t>
            </a:r>
            <a:endParaRPr sz="1100"/>
          </a:p>
        </p:txBody>
      </p:sp>
      <p:sp>
        <p:nvSpPr>
          <p:cNvPr id="13" name="guard-card-2">
            <a:extLst xmlns:a="http://schemas.openxmlformats.org/drawingml/2006/main">
              <a:ext uri="{FF2B5EF4-FFF2-40B4-BE49-F238E27FC236}">
                <a16:creationId xmlns:a16="http://schemas.microsoft.com/office/drawing/2014/main" id="{05443758-41E7-40C8-A2B9-754FB49E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4023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14" name="guard-2-circle">
            <a:extLst xmlns:a="http://schemas.openxmlformats.org/drawingml/2006/main">
              <a:ext uri="{FF2B5EF4-FFF2-40B4-BE49-F238E27FC236}">
                <a16:creationId xmlns:a16="http://schemas.microsoft.com/office/drawing/2014/main" id="{A4AF221A-CD00-4A79-B068-4B7FD209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5328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pic>
        <p:nvPicPr>
          <p:cNvPr id="52" name="guard-2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c64ff171843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668" y="268376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16" name="guard-h-2">
            <a:extLst xmlns:a="http://schemas.openxmlformats.org/drawingml/2006/main">
              <a:ext uri="{FF2B5EF4-FFF2-40B4-BE49-F238E27FC236}">
                <a16:creationId xmlns:a16="http://schemas.microsoft.com/office/drawing/2014/main" id="{FE25EBFA-036A-4E5E-9585-90145A65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316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Sem base de comparação</a:t>
            </a:r>
            <a:endParaRPr sz="1400"/>
          </a:p>
        </p:txBody>
      </p:sp>
      <p:sp>
        <p:nvSpPr>
          <p:cNvPr id="17" name="guard-t-2">
            <a:extLst xmlns:a="http://schemas.openxmlformats.org/drawingml/2006/main">
              <a:ext uri="{FF2B5EF4-FFF2-40B4-BE49-F238E27FC236}">
                <a16:creationId xmlns:a16="http://schemas.microsoft.com/office/drawing/2014/main" id="{41B1D9BE-790C-4DBF-82A3-3FE6AB3C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4320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Se um documento não traz a lista, nada é marcado como adicionado ou removido</a:t>
            </a:r>
            <a:endParaRPr sz="1100"/>
          </a:p>
        </p:txBody>
      </p:sp>
      <p:sp>
        <p:nvSpPr>
          <p:cNvPr id="18" name="guard-card-3">
            <a:extLst xmlns:a="http://schemas.openxmlformats.org/drawingml/2006/main">
              <a:ext uri="{FF2B5EF4-FFF2-40B4-BE49-F238E27FC236}">
                <a16:creationId xmlns:a16="http://schemas.microsoft.com/office/drawing/2014/main" id="{B26C833D-388D-40F1-B784-6919C09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31720"/>
            <a:ext cx="4023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19" name="guard-3-circle">
            <a:extLst xmlns:a="http://schemas.openxmlformats.org/drawingml/2006/main">
              <a:ext uri="{FF2B5EF4-FFF2-40B4-BE49-F238E27FC236}">
                <a16:creationId xmlns:a16="http://schemas.microsoft.com/office/drawing/2014/main" id="{EE6AEEA9-B82D-49CB-9AEC-14538D35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5328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pic>
        <p:nvPicPr>
          <p:cNvPr id="57" name="guard-3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9779d27df44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8908" y="268376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1" name="guard-h-3">
            <a:extLst xmlns:a="http://schemas.openxmlformats.org/drawingml/2006/main">
              <a:ext uri="{FF2B5EF4-FFF2-40B4-BE49-F238E27FC236}">
                <a16:creationId xmlns:a16="http://schemas.microsoft.com/office/drawing/2014/main" id="{EAA2EAC9-CA9F-4939-B75A-FE9CE7E2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2316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Nunca finge IA</a:t>
            </a:r>
            <a:endParaRPr sz="1400"/>
          </a:p>
        </p:txBody>
      </p:sp>
      <p:sp>
        <p:nvSpPr>
          <p:cNvPr id="22" name="guard-t-3">
            <a:extLst xmlns:a="http://schemas.openxmlformats.org/drawingml/2006/main">
              <a:ext uri="{FF2B5EF4-FFF2-40B4-BE49-F238E27FC236}">
                <a16:creationId xmlns:a16="http://schemas.microsoft.com/office/drawing/2014/main" id="{068B572B-E3B7-4D05-97A4-00A0600E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74320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125">
                <a:latin typeface="Calibri"/>
                <a:ea typeface="Calibri"/>
                <a:cs typeface="Calibri"/>
              </a:defRPr>
            </a:pPr>
            <a:r>
              <a:rPr sz="1125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Se a IA fica indisponível, a interface sinaliza contingência. O motivo fica nos detalhes técnicos</a:t>
            </a:r>
            <a:endParaRPr sz="1100"/>
          </a:p>
        </p:txBody>
      </p:sp>
      <p:sp>
        <p:nvSpPr>
          <p:cNvPr id="23" name="guard-card-4">
            <a:extLst xmlns:a="http://schemas.openxmlformats.org/drawingml/2006/main">
              <a:ext uri="{FF2B5EF4-FFF2-40B4-BE49-F238E27FC236}">
                <a16:creationId xmlns:a16="http://schemas.microsoft.com/office/drawing/2014/main" id="{11F94F43-21FB-4B0B-9C77-E4950E97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4023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24" name="guard-4-circle">
            <a:extLst xmlns:a="http://schemas.openxmlformats.org/drawingml/2006/main">
              <a:ext uri="{FF2B5EF4-FFF2-40B4-BE49-F238E27FC236}">
                <a16:creationId xmlns:a16="http://schemas.microsoft.com/office/drawing/2014/main" id="{F134D19C-1841-41E0-80BD-81CC7971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758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pic>
        <p:nvPicPr>
          <p:cNvPr id="62" name="guard-4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00b13ec8740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668" y="382676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26" name="guard-h-4">
            <a:extLst xmlns:a="http://schemas.openxmlformats.org/drawingml/2006/main">
              <a:ext uri="{FF2B5EF4-FFF2-40B4-BE49-F238E27FC236}">
                <a16:creationId xmlns:a16="http://schemas.microsoft.com/office/drawing/2014/main" id="{F4988578-77F3-4785-B1D3-3BA0158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616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Limites do provedor</a:t>
            </a:r>
            <a:endParaRPr sz="1400"/>
          </a:p>
        </p:txBody>
      </p:sp>
      <p:sp>
        <p:nvSpPr>
          <p:cNvPr id="27" name="guard-t-4">
            <a:extLst xmlns:a="http://schemas.openxmlformats.org/drawingml/2006/main">
              <a:ext uri="{FF2B5EF4-FFF2-40B4-BE49-F238E27FC236}">
                <a16:creationId xmlns:a16="http://schemas.microsoft.com/office/drawing/2014/main" id="{7D34D2F1-552C-499C-BBEE-A0165353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Espera automática no erro 429 e envio só das páginas críticas</a:t>
            </a:r>
            <a:endParaRPr sz="1100"/>
          </a:p>
        </p:txBody>
      </p:sp>
      <p:sp>
        <p:nvSpPr>
          <p:cNvPr id="28" name="guard-card-5">
            <a:extLst xmlns:a="http://schemas.openxmlformats.org/drawingml/2006/main">
              <a:ext uri="{FF2B5EF4-FFF2-40B4-BE49-F238E27FC236}">
                <a16:creationId xmlns:a16="http://schemas.microsoft.com/office/drawing/2014/main" id="{273D5C67-B828-4EEC-9829-A033D56D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474720"/>
            <a:ext cx="4023360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29" name="guard-5-circle">
            <a:extLst xmlns:a="http://schemas.openxmlformats.org/drawingml/2006/main">
              <a:ext uri="{FF2B5EF4-FFF2-40B4-BE49-F238E27FC236}">
                <a16:creationId xmlns:a16="http://schemas.microsoft.com/office/drawing/2014/main" id="{ABB35C79-B2BF-4822-BEE0-844F5BB9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675888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pic>
        <p:nvPicPr>
          <p:cNvPr id="67" name="guard-5-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26754794343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8908" y="3826764"/>
            <a:ext cx="301752" cy="301752"/>
          </a:xfrm>
          <a:prstGeom xmlns:a="http://schemas.openxmlformats.org/drawingml/2006/main" prst="rect">
            <a:avLst/>
          </a:prstGeom>
        </p:spPr>
      </p:pic>
      <p:sp>
        <p:nvSpPr>
          <p:cNvPr id="31" name="guard-h-5">
            <a:extLst xmlns:a="http://schemas.openxmlformats.org/drawingml/2006/main">
              <a:ext uri="{FF2B5EF4-FFF2-40B4-BE49-F238E27FC236}">
                <a16:creationId xmlns:a16="http://schemas.microsoft.com/office/drawing/2014/main" id="{C04259D0-EA95-4872-9FFD-745DBC00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566160"/>
            <a:ext cx="2971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Ressalva acadêmica</a:t>
            </a:r>
            <a:endParaRPr sz="1400"/>
          </a:p>
        </p:txBody>
      </p:sp>
      <p:sp>
        <p:nvSpPr>
          <p:cNvPr id="32" name="guard-t-5">
            <a:extLst xmlns:a="http://schemas.openxmlformats.org/drawingml/2006/main">
              <a:ext uri="{FF2B5EF4-FFF2-40B4-BE49-F238E27FC236}">
                <a16:creationId xmlns:a16="http://schemas.microsoft.com/office/drawing/2014/main" id="{2449E3C2-54B9-448C-A438-0271B223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886200"/>
            <a:ext cx="2971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chemeClr val="tx1"/>
                </a:solidFill>
              </a:rPr>
              <a:t>Não afirma que uma apólice é "melhor"; não substitui corretor nem parecer jurídico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4F540CF-7530-4E27-AFA1-9E5A135F7A3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43976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E28240-1F7F-4932-B631-198061A9EAF7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Caso real: renovação da Tokio Marine para a AXA</a:t>
            </a:r>
            <a:endParaRPr sz="2600"/>
          </a:p>
        </p:txBody>
      </p:sp>
      <p:sp>
        <p:nvSpPr>
          <p:cNvPr id="3" name="case-sub">
            <a:extLst xmlns:a="http://schemas.openxmlformats.org/drawingml/2006/main">
              <a:ext uri="{FF2B5EF4-FFF2-40B4-BE49-F238E27FC236}">
                <a16:creationId xmlns:a16="http://schemas.microsoft.com/office/drawing/2014/main" id="{3128A2F4-E623-4F50-8D6F-B3C79E63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chemeClr val="accent5"/>
                </a:solidFill>
              </a:rPr>
              <a:t>Mesmo segurado (indústria de Itu/SP), vigências consecutivas: 2024–2025 e 2025–2026</a:t>
            </a:r>
            <a:endParaRPr sz="1300"/>
          </a:p>
        </p:txBody>
      </p:sp>
      <p:sp>
        <p:nvSpPr>
          <p:cNvPr id="4" name="stat-card">
            <a:extLst xmlns:a="http://schemas.openxmlformats.org/drawingml/2006/main">
              <a:ext uri="{FF2B5EF4-FFF2-40B4-BE49-F238E27FC236}">
                <a16:creationId xmlns:a16="http://schemas.microsoft.com/office/drawing/2014/main" id="{9DD44A18-4584-4ECA-AD0D-D0F9D400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3931920" cy="3063240"/>
          </a:xfrm>
          <a:prstGeom xmlns:a="http://schemas.openxmlformats.org/drawingml/2006/main" prst="roundRect">
            <a:avLst>
              <a:gd name="adj" fmla="val 2388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5" name="stat-big">
            <a:extLst xmlns:a="http://schemas.openxmlformats.org/drawingml/2006/main">
              <a:ext uri="{FF2B5EF4-FFF2-40B4-BE49-F238E27FC236}">
                <a16:creationId xmlns:a16="http://schemas.microsoft.com/office/drawing/2014/main" id="{56CE6376-09EC-4A39-A186-65B3ECDC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3474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400" b="1">
                <a:solidFill>
                  <a:srgbClr val="E8A317"/>
                </a:solidFill>
                <a:latin typeface="Cambria"/>
                <a:ea typeface="Cambria"/>
                <a:cs typeface="Cambria"/>
              </a:rPr>
              <a:t>−48,8%</a:t>
            </a:r>
            <a:endParaRPr sz="6400"/>
          </a:p>
        </p:txBody>
      </p:sp>
      <p:sp>
        <p:nvSpPr>
          <p:cNvPr id="6" name="stat-label">
            <a:extLst xmlns:a="http://schemas.openxmlformats.org/drawingml/2006/main">
              <a:ext uri="{FF2B5EF4-FFF2-40B4-BE49-F238E27FC236}">
                <a16:creationId xmlns:a16="http://schemas.microsoft.com/office/drawing/2014/main" id="{33791135-7E88-4C2B-94C0-C389F09B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176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FFFFFF"/>
                </a:solidFill>
              </a:rPr>
              <a:t>no prêmio total</a:t>
            </a:r>
            <a:endParaRPr sz="1800"/>
          </a:p>
        </p:txBody>
      </p:sp>
      <p:sp>
        <p:nvSpPr>
          <p:cNvPr id="7" name="stat-values">
            <a:extLst xmlns:a="http://schemas.openxmlformats.org/drawingml/2006/main">
              <a:ext uri="{FF2B5EF4-FFF2-40B4-BE49-F238E27FC236}">
                <a16:creationId xmlns:a16="http://schemas.microsoft.com/office/drawing/2014/main" id="{72CA3524-1747-4B07-B962-E75DAD8A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6120"/>
            <a:ext cx="3474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</a:rPr>
              <a:t>R$ 10.880,98  →  R$ 5.571,59</a:t>
            </a:r>
            <a:endParaRPr sz="1800"/>
          </a:p>
        </p:txBody>
      </p:sp>
      <p:sp>
        <p:nvSpPr>
          <p:cNvPr id="8" name="stat-note">
            <a:extLst xmlns:a="http://schemas.openxmlformats.org/drawingml/2006/main">
              <a:ext uri="{FF2B5EF4-FFF2-40B4-BE49-F238E27FC236}">
                <a16:creationId xmlns:a16="http://schemas.microsoft.com/office/drawing/2014/main" id="{362F8080-4781-49B2-BF72-125F9D12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9040"/>
            <a:ext cx="3474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EA3BF"/>
                </a:solidFill>
              </a:rPr>
              <a:t>Prêmio líquido e IOF caíram na mesma proporção</a:t>
            </a:r>
            <a:endParaRPr sz="1200"/>
          </a:p>
        </p:txBody>
      </p:sp>
      <p:sp>
        <p:nvSpPr>
          <p:cNvPr id="9" name="fact-dot-0">
            <a:extLst xmlns:a="http://schemas.openxmlformats.org/drawingml/2006/main">
              <a:ext uri="{FF2B5EF4-FFF2-40B4-BE49-F238E27FC236}">
                <a16:creationId xmlns:a16="http://schemas.microsoft.com/office/drawing/2014/main" id="{B32F4939-BD47-46A3-BF78-38257335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5544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sp>
        <p:nvSpPr>
          <p:cNvPr id="10" name="fact-h-0">
            <a:extLst xmlns:a="http://schemas.openxmlformats.org/drawingml/2006/main">
              <a:ext uri="{FF2B5EF4-FFF2-40B4-BE49-F238E27FC236}">
                <a16:creationId xmlns:a16="http://schemas.microsoft.com/office/drawing/2014/main" id="{C335D4F5-DCE7-4282-8D89-7C5F7B6E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463040"/>
            <a:ext cx="3611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Identificado só na AXA</a:t>
            </a:r>
            <a:endParaRPr sz="1400"/>
          </a:p>
        </p:txBody>
      </p:sp>
      <p:sp>
        <p:nvSpPr>
          <p:cNvPr id="11" name="fact-t-0">
            <a:extLst xmlns:a="http://schemas.openxmlformats.org/drawingml/2006/main">
              <a:ext uri="{FF2B5EF4-FFF2-40B4-BE49-F238E27FC236}">
                <a16:creationId xmlns:a16="http://schemas.microsoft.com/office/drawing/2014/main" id="{F37D72F0-F286-474E-92AC-A144CBAE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2880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1"/>
                </a:solidFill>
              </a:rPr>
              <a:t>LMG de R$ 5.000.000,00, "não há aplicação de franquia", retroatividade ilimitada, âmbito mundial exceto EUA/Canadá</a:t>
            </a:r>
            <a:endParaRPr sz="1200"/>
          </a:p>
        </p:txBody>
      </p:sp>
      <p:sp>
        <p:nvSpPr>
          <p:cNvPr id="12" name="fact-dot-1">
            <a:extLst xmlns:a="http://schemas.openxmlformats.org/drawingml/2006/main">
              <a:ext uri="{FF2B5EF4-FFF2-40B4-BE49-F238E27FC236}">
                <a16:creationId xmlns:a16="http://schemas.microsoft.com/office/drawing/2014/main" id="{48236410-0D05-4E4C-BADC-63576665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606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12700">
            <a:solidFill>
              <a:srgbClr val="C8553D"/>
            </a:solidFill>
            <a:prstDash val="solid"/>
          </a:ln>
        </p:spPr>
      </p:sp>
      <p:sp>
        <p:nvSpPr>
          <p:cNvPr id="13" name="fact-h-1">
            <a:extLst xmlns:a="http://schemas.openxmlformats.org/drawingml/2006/main">
              <a:ext uri="{FF2B5EF4-FFF2-40B4-BE49-F238E27FC236}">
                <a16:creationId xmlns:a16="http://schemas.microsoft.com/office/drawing/2014/main" id="{A64895EC-6B28-4C84-BCD3-76415EBF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14600"/>
            <a:ext cx="3611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Ponto de atenção</a:t>
            </a:r>
            <a:endParaRPr sz="1400"/>
          </a:p>
        </p:txBody>
      </p:sp>
      <p:sp>
        <p:nvSpPr>
          <p:cNvPr id="14" name="fact-t-1">
            <a:extLst xmlns:a="http://schemas.openxmlformats.org/drawingml/2006/main">
              <a:ext uri="{FF2B5EF4-FFF2-40B4-BE49-F238E27FC236}">
                <a16:creationId xmlns:a16="http://schemas.microsoft.com/office/drawing/2014/main" id="{3733A306-9EE3-462A-AD86-C3DD9085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8036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1"/>
                </a:solidFill>
              </a:rPr>
              <a:t>O arquivo da Tokio Marine traz só o frontispício: 40 itens de cobertura da AXA ficam "sem base de comparação"</a:t>
            </a:r>
            <a:endParaRPr sz="1200"/>
          </a:p>
        </p:txBody>
      </p:sp>
      <p:sp>
        <p:nvSpPr>
          <p:cNvPr id="15" name="fact-dot-2">
            <a:extLst xmlns:a="http://schemas.openxmlformats.org/drawingml/2006/main">
              <a:ext uri="{FF2B5EF4-FFF2-40B4-BE49-F238E27FC236}">
                <a16:creationId xmlns:a16="http://schemas.microsoft.com/office/drawing/2014/main" id="{83164CC1-B7D3-4314-9808-D4A66A21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5760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16" name="fact-h-2">
            <a:extLst xmlns:a="http://schemas.openxmlformats.org/drawingml/2006/main">
              <a:ext uri="{FF2B5EF4-FFF2-40B4-BE49-F238E27FC236}">
                <a16:creationId xmlns:a16="http://schemas.microsoft.com/office/drawing/2014/main" id="{333D153F-748C-4E2D-86C7-F09537D1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66160"/>
            <a:ext cx="3611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chemeClr val="tx2"/>
                </a:solidFill>
              </a:rPr>
              <a:t>Conclusão honesta</a:t>
            </a:r>
            <a:endParaRPr sz="1400"/>
          </a:p>
        </p:txBody>
      </p:sp>
      <p:sp>
        <p:nvSpPr>
          <p:cNvPr id="17" name="fact-t-2">
            <a:extLst xmlns:a="http://schemas.openxmlformats.org/drawingml/2006/main">
              <a:ext uri="{FF2B5EF4-FFF2-40B4-BE49-F238E27FC236}">
                <a16:creationId xmlns:a16="http://schemas.microsoft.com/office/drawing/2014/main" id="{5FB9AB0F-4A70-45A2-9E6D-EFB0C64C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931920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chemeClr val="tx1"/>
                </a:solidFill>
              </a:rPr>
              <a:t>O sistema confirma a redução de custo, mas não afirma ganho ou perda de cobertura sem o documento completo</a:t>
            </a:r>
            <a:endParaRPr sz="12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AF9E2A3-6D05-44BC-8C91-B4E7296D724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06027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8F31E7-C63D-4671-A414-733CF459E2B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Interface atual: etapas e rastreabilidade</a:t>
            </a:r>
            <a:endParaRPr sz="2600"/>
          </a:p>
        </p:txBody>
      </p:sp>
      <p:pic>
        <p:nvPicPr>
          <p:cNvPr id="28" name="shot-etapa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b75fc0b024640"/>
          <a:stretch xmlns:a="http://schemas.openxmlformats.org/drawingml/2006/main"/>
        </p:blipFill>
        <p:spPr>
          <a:xfrm xmlns:a="http://schemas.openxmlformats.org/drawingml/2006/main">
            <a:off x="457643" y="1127632"/>
            <a:ext cx="8228714" cy="1790955"/>
          </a:xfrm>
          <a:prstGeom xmlns:a="http://schemas.openxmlformats.org/drawingml/2006/main" prst="rect">
            <a:avLst/>
          </a:prstGeom>
        </p:spPr>
      </p:pic>
      <p:sp>
        <p:nvSpPr>
          <p:cNvPr id="4" name="cap-1">
            <a:extLst xmlns:a="http://schemas.openxmlformats.org/drawingml/2006/main">
              <a:ext uri="{FF2B5EF4-FFF2-40B4-BE49-F238E27FC236}">
                <a16:creationId xmlns:a16="http://schemas.microsoft.com/office/drawing/2014/main" id="{C879FEC0-555A-4FD5-88E7-F1758EC9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822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00">
                <a:latin typeface="Calibri"/>
                <a:ea typeface="Calibri"/>
                <a:cs typeface="Calibri"/>
              </a:defRPr>
            </a:pPr>
            <a:r>
              <a:rPr sz="1200" i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Execução final com IA ativa · OpenAI / gpt-4o-mini</a:t>
            </a:r>
            <a:endParaRPr sz="1000"/>
          </a:p>
        </p:txBody>
      </p:sp>
      <p:sp>
        <p:nvSpPr>
          <p:cNvPr id="5" name="demo-0">
            <a:extLst xmlns:a="http://schemas.openxmlformats.org/drawingml/2006/main">
              <a:ext uri="{FF2B5EF4-FFF2-40B4-BE49-F238E27FC236}">
                <a16:creationId xmlns:a16="http://schemas.microsoft.com/office/drawing/2014/main" id="{CBD9F979-9031-45DB-8814-5660EDC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822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8 abas preservadas para a comparação detalhada</a:t>
            </a:r>
            <a:endParaRPr sz="1300"/>
          </a:p>
        </p:txBody>
      </p:sp>
      <p:sp>
        <p:nvSpPr>
          <p:cNvPr id="6" name="demo-1">
            <a:extLst xmlns:a="http://schemas.openxmlformats.org/drawingml/2006/main">
              <a:ext uri="{FF2B5EF4-FFF2-40B4-BE49-F238E27FC236}">
                <a16:creationId xmlns:a16="http://schemas.microsoft.com/office/drawing/2014/main" id="{13810A16-383F-458C-AE64-30D94078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9525"/>
            <a:ext cx="822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Ver evidência: documento, página, trecho e texto original do campo</a:t>
            </a:r>
            <a:endParaRPr sz="1300"/>
          </a:p>
        </p:txBody>
      </p:sp>
      <p:sp>
        <p:nvSpPr>
          <p:cNvPr id="7" name="demo-2">
            <a:extLst xmlns:a="http://schemas.openxmlformats.org/drawingml/2006/main">
              <a:ext uri="{FF2B5EF4-FFF2-40B4-BE49-F238E27FC236}">
                <a16:creationId xmlns:a16="http://schemas.microsoft.com/office/drawing/2014/main" id="{A2F15B60-647E-47BA-ADFC-30BBAA29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822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4213D"/>
                </a:solidFill>
                <a:latin typeface="Calibri"/>
                <a:ea typeface="Calibri"/>
                <a:cs typeface="Calibri"/>
              </a:rPr>
              <a:t>JSON e log do orquestrador reunidos nos detalhes técnicos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0D853437-65BE-4312-8977-2697CBABF42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71798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2BDD42-3D6B-4220-A8B5-BC0B9161A816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Síntese executiva com OpenAI</a:t>
            </a:r>
            <a:endParaRPr sz="2600"/>
          </a:p>
        </p:txBody>
      </p:sp>
      <p:pic>
        <p:nvPicPr>
          <p:cNvPr id="28" name="shot-sinte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3349badc14f5c"/>
          <a:stretch xmlns:a="http://schemas.openxmlformats.org/drawingml/2006/main"/>
        </p:blipFill>
        <p:spPr>
          <a:xfrm xmlns:a="http://schemas.openxmlformats.org/drawingml/2006/main">
            <a:off x="457200" y="1516955"/>
            <a:ext cx="5669280" cy="1253911"/>
          </a:xfrm>
          <a:prstGeom xmlns:a="http://schemas.openxmlformats.org/drawingml/2006/main" prst="rect">
            <a:avLst/>
          </a:prstGeom>
        </p:spPr>
      </p:pic>
      <p:sp>
        <p:nvSpPr>
          <p:cNvPr id="4" name="cap-sintese">
            <a:extLst xmlns:a="http://schemas.openxmlformats.org/drawingml/2006/main">
              <a:ext uri="{FF2B5EF4-FFF2-40B4-BE49-F238E27FC236}">
                <a16:creationId xmlns:a16="http://schemas.microsoft.com/office/drawing/2014/main" id="{C48CA941-ECEE-480D-8B9D-2974E9FE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00">
                <a:latin typeface="Calibri"/>
                <a:ea typeface="Calibri"/>
                <a:cs typeface="Calibri"/>
              </a:defRPr>
            </a:pPr>
            <a:r>
              <a:rPr sz="1200" i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Execução final · OpenAI / gpt-4o-mini</a:t>
            </a:r>
            <a:endParaRPr sz="1000"/>
          </a:p>
        </p:txBody>
      </p:sp>
      <p:sp>
        <p:nvSpPr>
          <p:cNvPr id="5" name="obs-dot-0">
            <a:extLst xmlns:a="http://schemas.openxmlformats.org/drawingml/2006/main">
              <a:ext uri="{FF2B5EF4-FFF2-40B4-BE49-F238E27FC236}">
                <a16:creationId xmlns:a16="http://schemas.microsoft.com/office/drawing/2014/main" id="{9453B398-5D1F-4557-9746-9EAE8082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1155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2700">
            <a:solidFill>
              <a:srgbClr val="2A9D8F"/>
            </a:solidFill>
            <a:prstDash val="solid"/>
          </a:ln>
        </p:spPr>
      </p:sp>
      <p:sp>
        <p:nvSpPr>
          <p:cNvPr id="6" name="obs-h-0">
            <a:extLst xmlns:a="http://schemas.openxmlformats.org/drawingml/2006/main">
              <a:ext uri="{FF2B5EF4-FFF2-40B4-BE49-F238E27FC236}">
                <a16:creationId xmlns:a16="http://schemas.microsoft.com/office/drawing/2014/main" id="{14D8E2AA-9D6F-4040-AB1C-7A430B7B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0515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Redução de custo</a:t>
            </a:r>
            <a:endParaRPr sz="1300"/>
          </a:p>
        </p:txBody>
      </p:sp>
      <p:sp>
        <p:nvSpPr>
          <p:cNvPr id="7" name="obs-t-0">
            <a:extLst xmlns:a="http://schemas.openxmlformats.org/drawingml/2006/main">
              <a:ext uri="{FF2B5EF4-FFF2-40B4-BE49-F238E27FC236}">
                <a16:creationId xmlns:a16="http://schemas.microsoft.com/office/drawing/2014/main" id="{035F8FEC-C3AE-4A51-A7FC-94744AA7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99032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75"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Prêmio e IOF menores nas duas apólices comparadas</a:t>
            </a:r>
            <a:endParaRPr sz="1100"/>
          </a:p>
        </p:txBody>
      </p:sp>
      <p:sp>
        <p:nvSpPr>
          <p:cNvPr id="8" name="obs-dot-1">
            <a:extLst xmlns:a="http://schemas.openxmlformats.org/drawingml/2006/main">
              <a:ext uri="{FF2B5EF4-FFF2-40B4-BE49-F238E27FC236}">
                <a16:creationId xmlns:a16="http://schemas.microsoft.com/office/drawing/2014/main" id="{833C8499-FB1A-4FC1-AA64-783253C3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48256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 w="12700">
            <a:solidFill>
              <a:srgbClr val="E8A317"/>
            </a:solidFill>
            <a:prstDash val="solid"/>
          </a:ln>
        </p:spPr>
      </p:sp>
      <p:sp>
        <p:nvSpPr>
          <p:cNvPr id="9" name="obs-h-1">
            <a:extLst xmlns:a="http://schemas.openxmlformats.org/drawingml/2006/main">
              <a:ext uri="{FF2B5EF4-FFF2-40B4-BE49-F238E27FC236}">
                <a16:creationId xmlns:a16="http://schemas.microsoft.com/office/drawing/2014/main" id="{D08578C9-0C00-4388-83B8-207FF73D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84248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Ausências declaradas</a:t>
            </a:r>
            <a:endParaRPr sz="1300"/>
          </a:p>
        </p:txBody>
      </p:sp>
      <p:sp>
        <p:nvSpPr>
          <p:cNvPr id="10" name="obs-t-1">
            <a:extLst xmlns:a="http://schemas.openxmlformats.org/drawingml/2006/main">
              <a:ext uri="{FF2B5EF4-FFF2-40B4-BE49-F238E27FC236}">
                <a16:creationId xmlns:a16="http://schemas.microsoft.com/office/drawing/2014/main" id="{A30BC40D-D5D1-4C97-91C5-700516BF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331720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75"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LMG e franquia não identificados no documento A</a:t>
            </a:r>
            <a:endParaRPr sz="1100"/>
          </a:p>
        </p:txBody>
      </p:sp>
      <p:sp>
        <p:nvSpPr>
          <p:cNvPr id="11" name="obs-dot-2">
            <a:extLst xmlns:a="http://schemas.openxmlformats.org/drawingml/2006/main">
              <a:ext uri="{FF2B5EF4-FFF2-40B4-BE49-F238E27FC236}">
                <a16:creationId xmlns:a16="http://schemas.microsoft.com/office/drawing/2014/main" id="{E9E9545F-144D-4C5B-93E3-F712CBB4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80944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12700">
            <a:solidFill>
              <a:srgbClr val="14213D"/>
            </a:solidFill>
            <a:prstDash val="solid"/>
          </a:ln>
        </p:spPr>
      </p:sp>
      <p:sp>
        <p:nvSpPr>
          <p:cNvPr id="12" name="obs-h-2">
            <a:extLst xmlns:a="http://schemas.openxmlformats.org/drawingml/2006/main">
              <a:ext uri="{FF2B5EF4-FFF2-40B4-BE49-F238E27FC236}">
                <a16:creationId xmlns:a16="http://schemas.microsoft.com/office/drawing/2014/main" id="{05EE22C8-F324-4FEE-9C86-DF06D60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2916936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Ressalva acadêmica</a:t>
            </a:r>
            <a:endParaRPr sz="1300"/>
          </a:p>
        </p:txBody>
      </p:sp>
      <p:sp>
        <p:nvSpPr>
          <p:cNvPr id="13" name="obs-t-2">
            <a:extLst xmlns:a="http://schemas.openxmlformats.org/drawingml/2006/main">
              <a:ext uri="{FF2B5EF4-FFF2-40B4-BE49-F238E27FC236}">
                <a16:creationId xmlns:a16="http://schemas.microsoft.com/office/drawing/2014/main" id="{98F19D88-4B3B-484D-8DD3-5D8EE847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264408"/>
            <a:ext cx="2011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75"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Texto preservado pelo sistema, independente do modelo</a:t>
            </a:r>
            <a:endParaRPr sz="1100"/>
          </a:p>
        </p:txBody>
      </p:sp>
      <p:sp>
        <p:nvSpPr>
          <p:cNvPr id="14" name="sintese-result">
            <a:extLst xmlns:a="http://schemas.openxmlformats.org/drawingml/2006/main">
              <a:ext uri="{FF2B5EF4-FFF2-40B4-BE49-F238E27FC236}">
                <a16:creationId xmlns:a16="http://schemas.microsoft.com/office/drawing/2014/main" id="{B90CC4FE-40C3-4BDD-A3AB-1FB77394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764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C8553D"/>
                </a:solidFill>
                <a:latin typeface="Calibri"/>
                <a:ea typeface="Calibri"/>
                <a:cs typeface="Calibri"/>
              </a:rPr>
              <a:t>A redução de custo não comprova melhora de cobertura. A análise mantém as lacunas visíveis.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BAE1162-2F54-499E-881B-35EBD4D55B0F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90982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F69022-5D5F-472F-A1CB-EA15695BCC0F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Validação técnica e histórico de execução</a:t>
            </a:r>
            <a:endParaRPr sz="2600"/>
          </a:p>
        </p:txBody>
      </p:sp>
      <p:graphicFrame>
        <p:nvGraphicFramePr>
          <p:cNvPr id="28" name="chart-times"/>
          <p:cNvGraphicFramePr/>
          <p:nvPr/>
        </p:nvGraphicFramePr>
        <p:xfrm>
          <a:off xmlns:a="http://schemas.openxmlformats.org/drawingml/2006/main" x="457200" y="1097280"/>
          <a:ext xmlns:a="http://schemas.openxmlformats.org/drawingml/2006/main" cx="4754880" cy="32918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f4db3f3b6d424a"/>
          </a:graphicData>
        </a:graphic>
      </p:graphicFrame>
      <p:sp>
        <p:nvSpPr>
          <p:cNvPr id="4" name="chart-note">
            <a:extLst xmlns:a="http://schemas.openxmlformats.org/drawingml/2006/main">
              <a:ext uri="{FF2B5EF4-FFF2-40B4-BE49-F238E27FC236}">
                <a16:creationId xmlns:a16="http://schemas.microsoft.com/office/drawing/2014/main" id="{669A21E6-C5EF-4523-BDC0-333C5A35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800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50">
                <a:latin typeface="Calibri"/>
                <a:ea typeface="Calibri"/>
                <a:cs typeface="Calibri"/>
              </a:defRPr>
            </a:pPr>
            <a:r>
              <a:rPr sz="1050" i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Tempos históricos com Groq (* inclui espera do provedor), não da execução final OpenAI. Testes validados: 32 passaram e 1 OCR ignorado.</a:t>
            </a:r>
            <a:endParaRPr sz="1000"/>
          </a:p>
        </p:txBody>
      </p:sp>
      <p:sp>
        <p:nvSpPr>
          <p:cNvPr id="5" name="kpi-0">
            <a:extLst xmlns:a="http://schemas.openxmlformats.org/drawingml/2006/main">
              <a:ext uri="{FF2B5EF4-FFF2-40B4-BE49-F238E27FC236}">
                <a16:creationId xmlns:a16="http://schemas.microsoft.com/office/drawing/2014/main" id="{937F03BE-B91A-45EF-9081-271A0B94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143000"/>
            <a:ext cx="3200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6" name="kpi-n-0">
            <a:extLst xmlns:a="http://schemas.openxmlformats.org/drawingml/2006/main">
              <a:ext uri="{FF2B5EF4-FFF2-40B4-BE49-F238E27FC236}">
                <a16:creationId xmlns:a16="http://schemas.microsoft.com/office/drawing/2014/main" id="{B574A2D0-13C4-4CD0-9FF7-BF1BB03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43000"/>
            <a:ext cx="1371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2A9D8F"/>
                </a:solidFill>
                <a:latin typeface="Cambria"/>
                <a:ea typeface="Cambria"/>
                <a:cs typeface="Cambria"/>
              </a:rPr>
              <a:t>5</a:t>
            </a:r>
            <a:endParaRPr sz="3000"/>
          </a:p>
        </p:txBody>
      </p:sp>
      <p:sp>
        <p:nvSpPr>
          <p:cNvPr id="7" name="kpi-l-0">
            <a:extLst xmlns:a="http://schemas.openxmlformats.org/drawingml/2006/main">
              <a:ext uri="{FF2B5EF4-FFF2-40B4-BE49-F238E27FC236}">
                <a16:creationId xmlns:a16="http://schemas.microsoft.com/office/drawing/2014/main" id="{37C26B99-474C-4DAF-A77C-E9436C07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143000"/>
            <a:ext cx="1554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75"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agentes no pipeline</a:t>
            </a:r>
            <a:endParaRPr sz="1300"/>
          </a:p>
        </p:txBody>
      </p:sp>
      <p:sp>
        <p:nvSpPr>
          <p:cNvPr id="8" name="kpi-1">
            <a:extLst xmlns:a="http://schemas.openxmlformats.org/drawingml/2006/main">
              <a:ext uri="{FF2B5EF4-FFF2-40B4-BE49-F238E27FC236}">
                <a16:creationId xmlns:a16="http://schemas.microsoft.com/office/drawing/2014/main" id="{D75597C6-A3B0-412D-A677-B1AEC8C2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58568"/>
            <a:ext cx="3200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9" name="kpi-n-1">
            <a:extLst xmlns:a="http://schemas.openxmlformats.org/drawingml/2006/main">
              <a:ext uri="{FF2B5EF4-FFF2-40B4-BE49-F238E27FC236}">
                <a16:creationId xmlns:a16="http://schemas.microsoft.com/office/drawing/2014/main" id="{058F0E3E-7FE7-4571-98C6-C38FB526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258568"/>
            <a:ext cx="1371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2700">
                <a:latin typeface="Calibri"/>
                <a:ea typeface="Calibri"/>
                <a:cs typeface="Calibri"/>
              </a:defRPr>
            </a:pPr>
            <a:r>
              <a:rPr sz="2700" b="1">
                <a:solidFill>
                  <a:srgbClr val="2A9D8F"/>
                </a:solidFill>
                <a:latin typeface="Calibri"/>
                <a:ea typeface="Calibri"/>
                <a:cs typeface="Calibri"/>
              </a:rPr>
              <a:t>32 + 1</a:t>
            </a:r>
            <a:endParaRPr sz="3000"/>
          </a:p>
        </p:txBody>
      </p:sp>
      <p:sp>
        <p:nvSpPr>
          <p:cNvPr id="10" name="kpi-l-1">
            <a:extLst xmlns:a="http://schemas.openxmlformats.org/drawingml/2006/main">
              <a:ext uri="{FF2B5EF4-FFF2-40B4-BE49-F238E27FC236}">
                <a16:creationId xmlns:a16="http://schemas.microsoft.com/office/drawing/2014/main" id="{7D53D15D-3FC8-49E2-8ED7-AD5E8556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258568"/>
            <a:ext cx="1554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32 passaram</a:t>
            </a:r>
            <a:endParaRPr sz="1300"/>
          </a:p>
          <a:p xmlns:a="http://schemas.openxmlformats.org/drawingml/2006/main">
            <a:pPr marL="0" indent="0">
              <a:buNone/>
              <a:defRPr sz="1350"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1 ignorado: OCR</a:t>
            </a:r>
            <a:endParaRPr sz="1300"/>
          </a:p>
        </p:txBody>
      </p:sp>
      <p:sp>
        <p:nvSpPr>
          <p:cNvPr id="11" name="kpi-2">
            <a:extLst xmlns:a="http://schemas.openxmlformats.org/drawingml/2006/main">
              <a:ext uri="{FF2B5EF4-FFF2-40B4-BE49-F238E27FC236}">
                <a16:creationId xmlns:a16="http://schemas.microsoft.com/office/drawing/2014/main" id="{599C0084-73A1-4737-8A34-6D5BCCF5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74136"/>
            <a:ext cx="3200400" cy="96012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12" name="kpi-n-2">
            <a:extLst xmlns:a="http://schemas.openxmlformats.org/drawingml/2006/main">
              <a:ext uri="{FF2B5EF4-FFF2-40B4-BE49-F238E27FC236}">
                <a16:creationId xmlns:a16="http://schemas.microsoft.com/office/drawing/2014/main" id="{D23C0C83-114F-436E-A30A-711B76E7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374136"/>
            <a:ext cx="1371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2250"/>
            </a:pPr>
            <a:r>
              <a:rPr sz="2250" b="1">
                <a:solidFill>
                  <a:srgbClr val="2A9D8F"/>
                </a:solidFill>
                <a:latin typeface="Cambria"/>
                <a:ea typeface="Cambria"/>
                <a:cs typeface="Cambria"/>
              </a:rPr>
              <a:t>OpenAI</a:t>
            </a:r>
            <a:endParaRPr sz="3000"/>
          </a:p>
        </p:txBody>
      </p:sp>
      <p:sp>
        <p:nvSpPr>
          <p:cNvPr id="13" name="kpi-l-2">
            <a:extLst xmlns:a="http://schemas.openxmlformats.org/drawingml/2006/main">
              <a:ext uri="{FF2B5EF4-FFF2-40B4-BE49-F238E27FC236}">
                <a16:creationId xmlns:a16="http://schemas.microsoft.com/office/drawing/2014/main" id="{14E0AD39-92B4-49D0-BAC0-5EBADF64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374136"/>
            <a:ext cx="15544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275"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gpt-4o-mini</a:t>
            </a:r>
            <a:endParaRPr sz="1300"/>
          </a:p>
          <a:p xmlns:a="http://schemas.openxmlformats.org/drawingml/2006/main">
            <a:pPr marL="0" indent="0">
              <a:buNone/>
              <a:defRPr sz="1275"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configuração final</a:t>
            </a:r>
            <a:endParaRPr sz="13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2E61D5A7-0A79-4C16-A856-37C038211F9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24162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ED5E1-F099-4231-A49F-596C584912A5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Aprendizados da validação anterior com Groq</a:t>
            </a:r>
            <a:endParaRPr sz="2600"/>
          </a:p>
        </p:txBody>
      </p:sp>
      <p:graphicFrame>
        <p:nvGraphicFramePr>
          <p:cNvPr id="28" name="lessons"/>
          <p:cNvGraphicFramePr/>
          <p:nvPr/>
        </p:nvGraphicFramePr>
        <p:xfrm>
          <a:off xmlns:a="http://schemas.openxmlformats.org/drawingml/2006/main" x="457200" y="1188720"/>
          <a:ext xmlns:a="http://schemas.openxmlformats.org/drawingml/2006/main" cx="8229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Problema observado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Solução adotada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Pedido de 8.189 tokens excedeu o limite gratuito do Groq (8.000/min)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Compactação de espaços e envio só das páginas críticas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A página da franquia podia ser cortada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Prioridade para páginas com LMG, franquia e tabelas "% do LMI"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A IA listou como "ganho" um dado ausente na outra apólice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Regra: dado de um só lado vai para "pontos de atenção"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EEF1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"R$ … R$" exibido como fórmula matemática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300">
                          <a:solidFill>
                            <a:srgbClr val="1B2333"/>
                          </a:solidFill>
                          <a:latin typeface="Calibri"/>
                          <a:ea typeface="Calibri"/>
                          <a:cs typeface="Calibri"/>
                        </a:rPr>
                        <a:t>Escape do cifrão nos textos gerados pela IA</a:t>
                      </a:r>
                      <a:endParaRPr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73152" marB="73152" anchor="ctr">
                    <a:lnL w="6350" cmpd="sng">
                      <a:solidFill>
                        <a:srgbClr val="D5DCE6"/>
                      </a:solidFill>
                      <a:prstDash val="solid"/>
                    </a:lnL>
                    <a:lnR w="6350" cmpd="sng">
                      <a:solidFill>
                        <a:srgbClr val="D5DCE6"/>
                      </a:solidFill>
                      <a:prstDash val="solid"/>
                    </a:lnR>
                    <a:lnT w="6350" cmpd="sng">
                      <a:solidFill>
                        <a:srgbClr val="D5DCE6"/>
                      </a:solidFill>
                      <a:prstDash val="solid"/>
                    </a:lnT>
                    <a:lnB w="6350" cmpd="sng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808AF37-62F7-4253-AB19-89F15BC6C4B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0381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226B22-B858-418A-83BA-F95AB3887CD9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chemeClr val="tx2"/>
                </a:solidFill>
              </a:rPr>
              <a:t>Limitações conhecidas e evolução</a:t>
            </a:r>
            <a:endParaRPr sz="2600"/>
          </a:p>
        </p:txBody>
      </p:sp>
      <p:sp>
        <p:nvSpPr>
          <p:cNvPr id="3" name="lim-card">
            <a:extLst xmlns:a="http://schemas.openxmlformats.org/drawingml/2006/main">
              <a:ext uri="{FF2B5EF4-FFF2-40B4-BE49-F238E27FC236}">
                <a16:creationId xmlns:a16="http://schemas.microsoft.com/office/drawing/2014/main" id="{F1216A64-3C27-4EA9-8F5D-DB90C449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97764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4" name="lim-h">
            <a:extLst xmlns:a="http://schemas.openxmlformats.org/drawingml/2006/main">
              <a:ext uri="{FF2B5EF4-FFF2-40B4-BE49-F238E27FC236}">
                <a16:creationId xmlns:a16="http://schemas.microsoft.com/office/drawing/2014/main" id="{133C1F98-E89A-4EAF-B45E-7C17571A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016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C8553D"/>
                </a:solidFill>
                <a:latin typeface="Cambria"/>
                <a:ea typeface="Cambria"/>
                <a:cs typeface="Cambria"/>
              </a:rPr>
              <a:t>Limitações</a:t>
            </a:r>
            <a:endParaRPr sz="1800"/>
          </a:p>
        </p:txBody>
      </p:sp>
      <p:sp>
        <p:nvSpPr>
          <p:cNvPr id="5" name="lim-list">
            <a:extLst xmlns:a="http://schemas.openxmlformats.org/drawingml/2006/main">
              <a:ext uri="{FF2B5EF4-FFF2-40B4-BE49-F238E27FC236}">
                <a16:creationId xmlns:a16="http://schemas.microsoft.com/office/drawing/2014/main" id="{CEA23924-CE4A-42DC-84CB-27EFD8FA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356616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Apólice Tokio Marine incompleta (só frontispício)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Provedores de IA têm limites de contexto, tokens e custo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Dicionário de sinônimos cobre os termos D&amp;O mais comuns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OCR depende da qualidade da digitalização</a:t>
            </a:r>
            <a:endParaRPr sz="1400"/>
          </a:p>
        </p:txBody>
      </p:sp>
      <p:sp>
        <p:nvSpPr>
          <p:cNvPr id="6" name="fut-card">
            <a:extLst xmlns:a="http://schemas.openxmlformats.org/drawingml/2006/main">
              <a:ext uri="{FF2B5EF4-FFF2-40B4-BE49-F238E27FC236}">
                <a16:creationId xmlns:a16="http://schemas.microsoft.com/office/drawing/2014/main" id="{BA8A73BF-1B25-4FCB-A887-CC376A3B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143000"/>
            <a:ext cx="397764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2700">
            <a:solidFill>
              <a:srgbClr val="EEF1F6"/>
            </a:solidFill>
            <a:prstDash val="solid"/>
          </a:ln>
        </p:spPr>
      </p:sp>
      <p:sp>
        <p:nvSpPr>
          <p:cNvPr id="7" name="fut-h">
            <a:extLst xmlns:a="http://schemas.openxmlformats.org/drawingml/2006/main">
              <a:ext uri="{FF2B5EF4-FFF2-40B4-BE49-F238E27FC236}">
                <a16:creationId xmlns:a16="http://schemas.microsoft.com/office/drawing/2014/main" id="{28A8B410-0D08-4EE2-BF3C-62846CA9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280160"/>
            <a:ext cx="35661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A9D8F"/>
                </a:solidFill>
                <a:latin typeface="Cambria"/>
                <a:ea typeface="Cambria"/>
                <a:cs typeface="Cambria"/>
              </a:rPr>
              <a:t>Próximos passos</a:t>
            </a:r>
            <a:endParaRPr sz="1800"/>
          </a:p>
        </p:txBody>
      </p:sp>
      <p:sp>
        <p:nvSpPr>
          <p:cNvPr id="8" name="fut-list">
            <a:extLst xmlns:a="http://schemas.openxmlformats.org/drawingml/2006/main">
              <a:ext uri="{FF2B5EF4-FFF2-40B4-BE49-F238E27FC236}">
                <a16:creationId xmlns:a16="http://schemas.microsoft.com/office/drawing/2014/main" id="{C130BEEB-9FE6-432E-9642-07339E7D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737360"/>
            <a:ext cx="356616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RAG sobre as Condições Gerais (processo SUSEP)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Chat com as apólices, citando a página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Comparar N cotações com ranking por critérios</a:t>
            </a:r>
            <a:endParaRPr sz="140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400">
                <a:solidFill>
                  <a:schemeClr val="tx1"/>
                </a:solidFill>
              </a:rPr>
              <a:t>Modelos locais para dados sensíveis (LGPD)</a:t>
            </a:r>
            <a:endParaRPr sz="1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8D9188C2-A1D1-4093-AD36-B19859A81C4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36576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5C6B80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16554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37BC2C-D381-457D-8A5E-98D7C9944B32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548640" y="1417320"/>
            <a:ext cx="80467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chemeClr val="bg1"/>
                </a:solidFill>
              </a:rPr>
              <a:t>Insight Builders</a:t>
            </a:r>
            <a:endParaRPr sz="40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8BDCD467-2976-4293-B55C-EFFE7E13ED0E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548640" y="2619375"/>
            <a:ext cx="804672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PolicyMind D&amp;O</a:t>
            </a:r>
            <a:endParaRPr sz="1800"/>
          </a:p>
          <a:p xmlns:a="http://schemas.openxmlformats.org/drawingml/2006/main">
            <a:pPr marL="0" indent="0" algn="l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Python · Streamlit · PyMuPDF · Tesseract</a:t>
            </a:r>
            <a:endParaRPr sz="1800"/>
          </a:p>
          <a:p xmlns:a="http://schemas.openxmlformats.org/drawingml/2006/main">
            <a:pPr marL="0" indent="0" algn="l">
              <a:buNone/>
              <a:defRPr sz="1650"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chemeClr val="accent6"/>
                </a:solidFill>
                <a:latin typeface="Calibri"/>
                <a:ea typeface="Calibri"/>
                <a:cs typeface="Calibri"/>
              </a:rPr>
              <a:t>OpenAI API · Pydantic · SQLite · Pytest</a:t>
            </a:r>
            <a:endParaRPr sz="1800"/>
          </a:p>
        </p:txBody>
      </p:sp>
      <p:sp>
        <p:nvSpPr>
          <p:cNvPr id="4" name="team-end">
            <a:extLst xmlns:a="http://schemas.openxmlformats.org/drawingml/2006/main">
              <a:ext uri="{FF2B5EF4-FFF2-40B4-BE49-F238E27FC236}">
                <a16:creationId xmlns:a16="http://schemas.microsoft.com/office/drawing/2014/main" id="{0DEA8017-3AFF-43CC-82F5-CEE740C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09975"/>
            <a:ext cx="8046720" cy="714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Márcio de la Cruz Lui</a:t>
            </a:r>
            <a:endParaRPr sz="1200"/>
          </a:p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Mauro José de Oliveira</a:t>
            </a:r>
            <a:endParaRPr sz="1200"/>
          </a:p>
          <a:p xmlns:a="http://schemas.openxmlformats.org/drawingml/2006/main">
            <a:pPr marL="0" indent="0">
              <a:buNone/>
              <a:defRPr sz="1425"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Pedro Antonio Franceschini</a:t>
            </a:r>
            <a:endParaRPr sz="1200"/>
          </a:p>
        </p:txBody>
      </p:sp>
      <p:sp>
        <p:nvSpPr>
          <p:cNvPr id="5" name="disclaimer">
            <a:extLst xmlns:a="http://schemas.openxmlformats.org/drawingml/2006/main">
              <a:ext uri="{FF2B5EF4-FFF2-40B4-BE49-F238E27FC236}">
                <a16:creationId xmlns:a16="http://schemas.microsoft.com/office/drawing/2014/main" id="{8FAB69CB-5622-493E-8012-04BAF787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125">
                <a:latin typeface="Calibri"/>
                <a:ea typeface="Calibri"/>
                <a:cs typeface="Calibri"/>
              </a:defRPr>
            </a:pPr>
            <a:r>
              <a:rPr sz="1125" i="1">
                <a:solidFill>
                  <a:srgbClr val="E8A317"/>
                </a:solidFill>
                <a:latin typeface="Calibri"/>
                <a:ea typeface="Calibri"/>
                <a:cs typeface="Calibri"/>
              </a:rPr>
              <a:t>Projeto acadêmico: não substitui corretor de seguros, seguradora ou parecer jurídico.</a:t>
            </a:r>
            <a:endParaRPr sz="1000"/>
          </a:p>
        </p:txBody>
      </p:sp>
      <p:sp>
        <p:nvSpPr>
          <p:cNvPr id="6" name="repository">
            <a:extLst xmlns:a="http://schemas.openxmlformats.org/drawingml/2006/main">
              <a:ext uri="{FF2B5EF4-FFF2-40B4-BE49-F238E27FC236}">
                <a16:creationId xmlns:a16="http://schemas.microsoft.com/office/drawing/2014/main" id="{FA74F049-0F3C-4446-A73E-B9F1B70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67250"/>
            <a:ext cx="804672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8FB9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FB9FF"/>
                </a:solidFill>
                <a:latin typeface="Calibri"/>
                <a:ea typeface="Calibri"/>
                <a:cs typeface="Calibri"/>
              </a:rPr>
              <a:t>github.com/maurojornalista/policymind-do</a:t>
            </a:r>
          </a:p>
          <a:p xmlns:a="http://schemas.openxmlformats.org/drawingml/2006/main">
            <a:pPr>
              <a:buNone/>
              <a:defRPr sz="1200">
                <a:solidFill>
                  <a:srgbClr val="8FB9F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8FB9FF"/>
                </a:solidFill>
                <a:latin typeface="Calibri"/>
                <a:ea typeface="Calibri"/>
                <a:cs typeface="Calibri"/>
              </a:rPr>
              <a:t>policymind-do.streamlit.app</a:t>
            </a:r>
          </a:p>
        </p:txBody>
      </p:sp>
    </p:spTree>
    <p:extLst>
      <p:ext uri="{BB962C8B-B14F-4D97-AF65-F5344CB8AC3E}">
        <p14:creationId xmlns:p14="http://schemas.microsoft.com/office/powerpoint/2010/main" val="1075944412"/>
      </p:ext>
    </p:extLst>
  </p:cSld>
</p:sld>
</file>

<file path=ppt/theme/theme1.xml><?xml version="1.0" encoding="utf-8"?>
<a:theme xmlns:a="http://schemas.openxmlformats.org/drawingml/2006/main" name="PolicyMind">
  <a:themeElements>
    <a:clrScheme name="PolicyMind">
      <a:dk1>
        <a:srgbClr val="1B2333"/>
      </a:dk1>
      <a:lt1>
        <a:srgbClr val="FFFFFF"/>
      </a:lt1>
      <a:dk2>
        <a:srgbClr val="14213D"/>
      </a:dk2>
      <a:lt2>
        <a:srgbClr val="EEF1F6"/>
      </a:lt2>
      <a:accent1>
        <a:srgbClr val="14213D"/>
      </a:accent1>
      <a:accent2>
        <a:srgbClr val="E8A317"/>
      </a:accent2>
      <a:accent3>
        <a:srgbClr val="2A9D8F"/>
      </a:accent3>
      <a:accent4>
        <a:srgbClr val="C8553D"/>
      </a:accent4>
      <a:accent5>
        <a:srgbClr val="5C6B80"/>
      </a:accent5>
      <a:accent6>
        <a:srgbClr val="8EA3BF"/>
      </a:accent6>
      <a:hlink>
        <a:srgbClr val="2A9D8F"/>
      </a:hlink>
      <a:folHlink>
        <a:srgbClr val="5C6B80"/>
      </a:folHlink>
    </a:clrScheme>
    <a:fontScheme name="PolicyMi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olicyMin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2026-10-07T01:51:11.0280000Z</dcterms:created>
  <dcterms:modified xsi:type="dcterms:W3CDTF">2026-10-07T01:51:11.0280000Z</dcterms:modified>
</coreProperties>
</file>